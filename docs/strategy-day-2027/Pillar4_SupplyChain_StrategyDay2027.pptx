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9680de8-0fa0-fc2d-4b0e-7ba49e0903f7}">
          <p14:sldIdLst>
            <p14:sldId id="256"/>
          </p14:sldIdLst>
        </p14:section>
        <p14:section name="Summary" id="{981c6c12-243f-f5f4-932f-c18363aca7d5}">
          <p14:sldIdLst>
            <p14:sldId id="257"/>
            <p14:sldId id="258"/>
            <p14:sldId id="259"/>
          </p14:sldIdLst>
        </p14:section>
        <p14:section name="Initiatives" id="{4a194c15-2275-9417-b1d7-d3a9067f413a}">
          <p14:sldIdLst>
            <p14:sldId id="260"/>
            <p14:sldId id="261"/>
            <p14:sldId id="262"/>
            <p14:sldId id="263"/>
            <p14:sldId id="264"/>
            <p14:sldId id="265"/>
          </p14:sldIdLst>
        </p14:section>
        <p14:section name="Plan" id="{d9e3d566-8236-192b-eef3-7cc0f37b3ff3}">
          <p14:sldIdLst>
            <p14:sldId id="266"/>
            <p14:sldId id="267"/>
          </p14:sldIdLst>
        </p14:section>
        <p14:section name="Close" id="{7f5a6aca-6e5c-db57-5b2f-1cbef15e0f51}">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seconds). I lead three of the Group 2 initiatives under Pillar 4: the regional distribution centre study, fleet cost-to-serve, and ISI Live Delivery. Chandy is the LT lead for all three. In the next 15 minutes: what we commit to, where we start, how we deliver each one, and what we need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three initiatives, one goal: lower cost and faster, more visible delivery. 1.1 is a study year: we decide on the 2 DC sites in 2027 and execute in 2028, so its 10% saving shows from 2028. 1.2 is the quick win inside 2027: 5% lower cost per ton-km between April and August. 3.2 is the customer-facing one: stock is committed in SAP the moment the order is taken, and the customer can see where their truck is. Term: cost-to-serve = total cost to store and deliver one ton to the customer. Ton-km = one ton carried one kilometre.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start. 11 branches are supplied from the factory distribution centre. SAP commits stock to an order 2 to 3 days after the order is taken, because of a manual cut-off. Monthly steel leaving the SSK factory ranged from about 17,000 to 31,000 tons in Jan to Aug 2026 (SAP MB51). Our own fleet uses roughly 24,000 litres of fuel a month, based on the first 13 days of the new Fuel Refill app. The digital base is already in place: the Delivery Journey app records every truck step and proof of delivery, and the Fuel app records every refill. What we still need is a Finance-validated 2026 baseline for cost per ton-km and cost-to-serve per branch; that is the first task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own apps, built in-house this year and running on Google Sheets at no licence cost. Drivers record every fuel refill with the truck QR, odometer photo and pump photo. Security records Gate In with plate, 3PL company, DN number and truck photos. Logistics sees every trip of the day and the time each truck spends at every step, from Gate In to delivery. This is the data base for fleet cost-to-serve and for Live Delivery. The screens show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Initiative 1.1. Today all 11 provincial branches are supplied from the factory. The idea is two regional distribution centres (large central warehouses) next to the existing factory DC, so trucks run full to a regional hub and short trips go out from there. 2027 is study and readiness only: network study by February, a management decision gate in May, two sites recommended in June, customer transition plan in July with Sales as co-owner, and SAP set up for the two DCs by August. The physical move happens in 2028, so the 10% cost-to-serve saving is shown in the business case and realised from 2028. Note: the pre-work deadline says September; the last 2027 milestone is August, so September is the sign-off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Initiative 1.2, the 2027 quick win. Four levers. One: control fuel, by tendering the supply and giving each truck a fuel card with a litre limit, then each month checking the litres on the card against the kilometres from GPS. Two: pay per kilometre with an uptime guarantee (SLA = service level agreement), signed only after we decide own fleet vs 3PL. Three: for each delivery lane, compare cost per ton-km of our own trucks against 3PL and use the cheaper one. Four: re-tender the 3PL contracts against that baseline and score them monthly. Target: 5% lower outbound cost per ton-km between April and August 2027 compared with 2026. Term: 3PL = third-party logistics, outside transport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from our own data. The Fuel Refill app went live on 26 September. About one refill in six had a placeholder odometer reading such as 0, 1 or 123456, so we cannot yet calculate kilometres per litre reliably. Drivers fill fixed round amounts like 100 or 150 litres rather than a full tank, so litres cannot be matched to distance. The good news: about 35 trucks and drivers are already logging every refill with photos and GPS, and a reviewer checks them. A fuel card with a litre cap, matched every month with GPS kilometres, turns this into 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Initiative 3.2, ISI Live Delivery. This is the customer's journey from order to door. Green steps are already live in our Delivery Journey app: Gate In, loading with DN scan, and digital proof of delivery. Blue is partly live: we already check the truck is within 1 km of the customer; a GPS geofence will make that automatic. Gold steps we build in 2027: SAP commits stock the moment the order is captured instead of 2 to 3 days later; the customer receives an ETA by Telegram or SMS at Gate Out; and premium customers can follow the truck on a live map. Dependency: the truck flow platform must be live at all sites by April 2027. Terms: DN = delivery note; ETA = estimated time of arrival; POD = proof of delivery; geofence = a GPS circle around the customer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next, built on the same app. Scanning the delivery note already opens the next step by itself. In 2027 the customer receives a tracking link at Gate Out showing where the truck is and the expected arrival time; that is initiative 3.2. And each 3PL company gets a monthly scorecard: on-time in full (OTIF), proof of delivery rate, complaints and the customer's rating; that supports the 3PL re-tender in initiative 1.2. The 3PL scorecard numbers shown are a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measures for Live Delivery. Zero days between order capture and stock commitment in SAP from June 2027. 100% of deliveries with digital proof of delivery by September. 100% of deliveries send the customer a live tracking link at Gate Out by September. Half the number of customer calls to Sales asking where their delivery is, compared with Q4 2026. For that last one, Sales needs to start counting the calls in Q4 2026 so we have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year on one page. Jan to Mar: build the 2026 baselines with Finance, tender fuel, finish the DC network study, and roll the truck flow platform out to all sites. April to August is the measurement window for the 5% fleet saving; in parallel we run the lane review, the DC decision gate in May, site choice in June, transition plan in July and SAP readiness in August. ETA messages and tracking links go live from April, the zero-day SAP stock commit from June. September is the delivery month for all three. Q4: sustain, report monthly, and prepare the 2028 DC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deliver this, I need four things. Finance: validate the 2026 baselines by January and the DC business case. Sales: co-own the customer transition for the DCs, help collect customer phone numbers so we can send ETA messages, and start counting delivery-status calls now. IT and SAP: stock commitment at order capture by June and SAP setup for the two DCs by August. Procurement and budget: the fuel tender, fleet cards, GPS devices for our own trucks, SMS costs and the 3PL re-tender. The main risks are a weak baseline, slow adoption by drivers and 3PL, and SAP change lead time; each has a mitigation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Three numbers to remember: at least 10% lower cost-to-serve per ton from the DCs, 5% lower cost per ton-km in 2027, and zero days to commit stock to an order.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1E6EF"/>
        </a:solidFill>
      </p:bgPr>
    </p:bg>
    <p:spTree>
      <p:nvGrpSpPr>
        <p:cNvPr id="1" name=""/>
        <p:cNvGrpSpPr/>
        <p:nvPr/>
      </p:nvGrpSpPr>
      <p:grpSpPr>
        <a:xfrm>
          <a:off x="0" y="0"/>
          <a:ext cx="0" cy="0"/>
          <a:chOff x="0" y="0"/>
          <a:chExt cx="0" cy="0"/>
        </a:xfrm>
      </p:grpSpPr>
      <p:sp>
        <p:nvSpPr>
          <p:cNvPr id="2" name="Shape 0"/>
          <p:cNvSpPr/>
          <p:nvPr/>
        </p:nvSpPr>
        <p:spPr>
          <a:xfrm>
            <a:off x="109728" y="109728"/>
            <a:ext cx="6035040" cy="475488"/>
          </a:xfrm>
          <a:prstGeom prst="rect">
            <a:avLst>
              <a:gd name="adj" fmla="val 15385"/>
            </a:avLst>
          </a:prstGeom>
          <a:solidFill>
            <a:srgbClr val="BF9000"/>
          </a:solidFill>
          <a:ln/>
        </p:spPr>
      </p:sp>
      <p:sp>
        <p:nvSpPr>
          <p:cNvPr id="3" name="Text 1"/>
          <p:cNvSpPr/>
          <p:nvPr>
            <p:ph idx="101" type="title" hasCustomPrompt="1"/>
          </p:nvPr>
        </p:nvSpPr>
        <p:spPr>
          <a:xfrm>
            <a:off x="201168" y="109728"/>
            <a:ext cx="5852160" cy="475488"/>
          </a:xfrm>
          <a:prstGeom prst="rect">
            <a:avLst/>
          </a:prstGeom>
          <a:noFill/>
          <a:ln/>
        </p:spPr>
        <p:txBody>
          <a:bodyPr wrap="square" rtlCol="0"/>
          <a:lstStyle>
            <a:lvl1pPr algn="l" indent="0" marL="0">
              <a:buNone/>
              <a:defRPr lang="en-US" sz="2000" b="1" dirty="0">
                <a:solidFill>
                  <a:srgbClr val="FFFFFF"/>
                </a:solidFill>
                <a:latin typeface="Arial" pitchFamily="34" charset="0"/>
                <a:ea typeface="Arial" pitchFamily="34" charset="-122"/>
                <a:cs typeface="Arial" pitchFamily="34" charset="-120"/>
              </a:defRPr>
            </a:lvl1pPr>
          </a:lstStyle>
          <a:p>
            <a:pPr algn="l" indent="0" marL="0">
              <a:buNone/>
            </a:pPr>
            <a:endParaRPr lang="en-US" sz="2000" dirty="0"/>
          </a:p>
        </p:txBody>
      </p:sp>
      <p:sp>
        <p:nvSpPr>
          <p:cNvPr id="4" name="Shape 1"/>
          <p:cNvSpPr/>
          <p:nvPr/>
        </p:nvSpPr>
        <p:spPr>
          <a:xfrm>
            <a:off x="6446520" y="128016"/>
            <a:ext cx="1051560" cy="420624"/>
          </a:xfrm>
          <a:prstGeom prst="rect">
            <a:avLst>
              <a:gd name="adj" fmla="val 43478"/>
            </a:avLst>
          </a:prstGeom>
          <a:solidFill>
            <a:srgbClr val="FFFFFF"/>
          </a:solidFill>
          <a:ln w="9525">
            <a:solidFill>
              <a:srgbClr val="9AA7BD"/>
            </a:solidFill>
            <a:prstDash val="solid"/>
          </a:ln>
        </p:spPr>
      </p:sp>
      <p:sp>
        <p:nvSpPr>
          <p:cNvPr id="5" name="Text 2"/>
          <p:cNvSpPr/>
          <p:nvPr/>
        </p:nvSpPr>
        <p:spPr>
          <a:xfrm>
            <a:off x="6446520" y="128016"/>
            <a:ext cx="1051560" cy="420624"/>
          </a:xfrm>
          <a:prstGeom prst="rect">
            <a:avLst/>
          </a:prstGeom>
          <a:noFill/>
          <a:ln/>
        </p:spPr>
        <p:txBody>
          <a:bodyPr wrap="square" lIns="0" tIns="0" rIns="0" bIns="0" rtlCol="0" anchor="ctr"/>
          <a:lstStyle/>
          <a:p>
            <a:pPr algn="ctr" indent="0" marL="0">
              <a:buNone/>
            </a:pPr>
            <a:r>
              <a:rPr lang="en-US" sz="1200" b="1" dirty="0">
                <a:solidFill>
                  <a:srgbClr val="2A4A9A"/>
                </a:solidFill>
              </a:rPr>
              <a:t>Group 2</a:t>
            </a:r>
            <a:endParaRPr lang="en-US" sz="1200" dirty="0"/>
          </a:p>
        </p:txBody>
      </p:sp>
      <p:pic>
        <p:nvPicPr>
          <p:cNvPr id="6" name="Image 0" descr="/tmp/claude-0/sd/logo_small.png">    </p:cNvPr>
          <p:cNvPicPr>
            <a:picLocks noChangeAspect="1"/>
          </p:cNvPicPr>
          <p:nvPr/>
        </p:nvPicPr>
        <p:blipFill>
          <a:blip r:embed="rId1"/>
          <a:stretch>
            <a:fillRect/>
          </a:stretch>
        </p:blipFill>
        <p:spPr>
          <a:xfrm>
            <a:off x="7726680" y="155448"/>
            <a:ext cx="1143000" cy="411480"/>
          </a:xfrm>
          <a:prstGeom prst="rect">
            <a:avLst/>
          </a:prstGeom>
        </p:spPr>
      </p:pic>
      <p:sp>
        <p:nvSpPr>
          <p:cNvPr id="7" name="Text 3"/>
          <p:cNvSpPr/>
          <p:nvPr/>
        </p:nvSpPr>
        <p:spPr>
          <a:xfrm>
            <a:off x="365760" y="4828032"/>
            <a:ext cx="6400800" cy="228600"/>
          </a:xfrm>
          <a:prstGeom prst="rect">
            <a:avLst/>
          </a:prstGeom>
          <a:noFill/>
          <a:ln/>
        </p:spPr>
        <p:txBody>
          <a:bodyPr wrap="square" lIns="0" tIns="0" rIns="0" bIns="0" rtlCol="0" anchor="ctr"/>
          <a:lstStyle/>
          <a:p>
            <a:pPr indent="0" marL="0">
              <a:buNone/>
            </a:pPr>
            <a:r>
              <a:rPr lang="en-US" sz="900" dirty="0">
                <a:solidFill>
                  <a:srgbClr val="5B6577"/>
                </a:solidFill>
              </a:rPr>
              <a:t>Pillar 4 · Productivity and Operational Excellence · ELT Lead: Pheakdey</a:t>
            </a:r>
            <a:endParaRPr lang="en-US" sz="9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rtlCol="0"/>
          <a:lstStyle>
            <a:lvl1pPr algn="l" indent="0" marL="0">
              <a:buNone/>
              <a:defRPr lang="en-US" sz="2600" b="1" dirty="0">
                <a:solidFill>
                  <a:srgbClr val="F2F2F2"/>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Shape 0"/>
          <p:cNvSpPr/>
          <p:nvPr/>
        </p:nvSpPr>
        <p:spPr>
          <a:xfrm>
            <a:off x="7543800" y="274320"/>
            <a:ext cx="1143000" cy="438912"/>
          </a:xfrm>
          <a:prstGeom prst="rect">
            <a:avLst>
              <a:gd name="adj" fmla="val 41667"/>
            </a:avLst>
          </a:prstGeom>
          <a:solidFill>
            <a:srgbClr val="FFFFFF"/>
          </a:solidFill>
          <a:ln w="12700">
            <a:solidFill>
              <a:srgbClr val="FFFFFF"/>
            </a:solidFill>
            <a:prstDash val="solid"/>
          </a:ln>
        </p:spPr>
      </p:sp>
      <p:sp>
        <p:nvSpPr>
          <p:cNvPr id="4" name="Text 1"/>
          <p:cNvSpPr/>
          <p:nvPr/>
        </p:nvSpPr>
        <p:spPr>
          <a:xfrm>
            <a:off x="7543800" y="274320"/>
            <a:ext cx="1143000" cy="438912"/>
          </a:xfrm>
          <a:prstGeom prst="rect">
            <a:avLst/>
          </a:prstGeom>
          <a:noFill/>
          <a:ln/>
        </p:spPr>
        <p:txBody>
          <a:bodyPr wrap="square" lIns="0" tIns="0" rIns="0" bIns="0" rtlCol="0" anchor="ctr"/>
          <a:lstStyle/>
          <a:p>
            <a:pPr algn="ctr" indent="0" marL="0">
              <a:buNone/>
            </a:pPr>
            <a:r>
              <a:rPr lang="en-US" sz="1300" b="1" dirty="0">
                <a:solidFill>
                  <a:srgbClr val="2A4A9A"/>
                </a:solidFill>
              </a:rPr>
              <a:t>Group 2</a:t>
            </a:r>
            <a:endParaRPr lang="en-US" sz="1300" dirty="0"/>
          </a:p>
        </p:txBody>
      </p:sp>
      <p:sp>
        <p:nvSpPr>
          <p:cNvPr id="5" name="Text 2"/>
          <p:cNvSpPr/>
          <p:nvPr/>
        </p:nvSpPr>
        <p:spPr>
          <a:xfrm>
            <a:off x="457200" y="4800600"/>
            <a:ext cx="6400800" cy="228600"/>
          </a:xfrm>
          <a:prstGeom prst="rect">
            <a:avLst/>
          </a:prstGeom>
          <a:noFill/>
          <a:ln/>
        </p:spPr>
        <p:txBody>
          <a:bodyPr wrap="square" lIns="0" tIns="0" rIns="0" bIns="0" rtlCol="0" anchor="ctr"/>
          <a:lstStyle/>
          <a:p>
            <a:pPr indent="0" marL="0">
              <a:buNone/>
            </a:pPr>
            <a:r>
              <a:rPr lang="en-US" sz="900" dirty="0">
                <a:solidFill>
                  <a:srgbClr val="9FB0CC"/>
                </a:solidFill>
              </a:rPr>
              <a:t>Pillar 4 · Productivity and Operational Excellence · ELT Lead: Pheakdey</a:t>
            </a:r>
            <a:endParaRPr lang="en-US" sz="9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0B1F3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sd/img-014.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1F4E8C">
              <a:alpha val="70000"/>
            </a:srgbClr>
          </a:solidFill>
          <a:ln w="12700">
            <a:solidFill>
              <a:srgbClr val="1F4E8C">
                <a:alpha val="0"/>
              </a:srgbClr>
            </a:solidFill>
            <a:prstDash val="solid"/>
          </a:ln>
        </p:spPr>
      </p:sp>
      <p:pic>
        <p:nvPicPr>
          <p:cNvPr id="4" name="Image 1" descr="/tmp/claude-0/sd/logo_big.png">    </p:cNvPr>
          <p:cNvPicPr>
            <a:picLocks noChangeAspect="1"/>
          </p:cNvPicPr>
          <p:nvPr/>
        </p:nvPicPr>
        <p:blipFill>
          <a:blip r:embed="rId2"/>
          <a:stretch>
            <a:fillRect/>
          </a:stretch>
        </p:blipFill>
        <p:spPr>
          <a:xfrm>
            <a:off x="3246120" y="685800"/>
            <a:ext cx="2651760" cy="960120"/>
          </a:xfrm>
          <a:prstGeom prst="rect">
            <a:avLst/>
          </a:prstGeom>
        </p:spPr>
      </p:pic>
      <p:sp>
        <p:nvSpPr>
          <p:cNvPr id="5" name="Text 1"/>
          <p:cNvSpPr txBox="1"/>
          <p:nvPr/>
        </p:nvSpPr>
        <p:spPr>
          <a:xfrm>
            <a:off x="457200" y="1828800"/>
            <a:ext cx="8229600" cy="548640"/>
          </a:xfrm>
          <a:prstGeom prst="rect">
            <a:avLst/>
          </a:prstGeom>
          <a:noFill/>
          <a:ln/>
        </p:spPr>
        <p:txBody>
          <a:bodyPr wrap="square" lIns="0" tIns="0" rIns="0" bIns="0"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STRATEGY DAY 2027</a:t>
            </a:r>
            <a:endParaRPr lang="en-US" sz="3200" dirty="0"/>
          </a:p>
        </p:txBody>
      </p:sp>
      <p:sp>
        <p:nvSpPr>
          <p:cNvPr id="6" name="Text 2"/>
          <p:cNvSpPr txBox="1"/>
          <p:nvPr/>
        </p:nvSpPr>
        <p:spPr>
          <a:xfrm>
            <a:off x="457200" y="2423160"/>
            <a:ext cx="8229600" cy="365760"/>
          </a:xfrm>
          <a:prstGeom prst="rect">
            <a:avLst/>
          </a:prstGeom>
          <a:noFill/>
          <a:ln/>
        </p:spPr>
        <p:txBody>
          <a:bodyPr wrap="square" lIns="0" tIns="0" rIns="0" bIns="0" rtlCol="0" anchor="ctr"/>
          <a:lstStyle/>
          <a:p>
            <a:pPr algn="ctr" indent="0" marL="0">
              <a:buNone/>
            </a:pPr>
            <a:r>
              <a:rPr lang="en-US" sz="1800" dirty="0">
                <a:solidFill>
                  <a:srgbClr val="FFFFFF"/>
                </a:solidFill>
                <a:latin typeface="Arial" pitchFamily="34" charset="0"/>
                <a:ea typeface="Arial" pitchFamily="34" charset="-122"/>
                <a:cs typeface="Arial" pitchFamily="34" charset="-120"/>
              </a:rPr>
              <a:t>Pillar 4 · Productivity and Operational Excellence</a:t>
            </a:r>
            <a:endParaRPr lang="en-US" sz="1800" dirty="0"/>
          </a:p>
        </p:txBody>
      </p:sp>
      <p:sp>
        <p:nvSpPr>
          <p:cNvPr id="7" name="Shape 3"/>
          <p:cNvSpPr/>
          <p:nvPr/>
        </p:nvSpPr>
        <p:spPr>
          <a:xfrm>
            <a:off x="1600200" y="2971800"/>
            <a:ext cx="5943600" cy="457200"/>
          </a:xfrm>
          <a:prstGeom prst="roundRect">
            <a:avLst>
              <a:gd name="adj" fmla="val 16000"/>
            </a:avLst>
          </a:prstGeom>
          <a:solidFill>
            <a:srgbClr val="0B1F3F">
              <a:alpha val="65000"/>
            </a:srgbClr>
          </a:solidFill>
          <a:ln w="12700">
            <a:solidFill>
              <a:srgbClr val="FFFFFF"/>
            </a:solidFill>
            <a:prstDash val="solid"/>
          </a:ln>
        </p:spPr>
      </p:sp>
      <p:sp>
        <p:nvSpPr>
          <p:cNvPr id="8" name="Text 4"/>
          <p:cNvSpPr txBox="1"/>
          <p:nvPr/>
        </p:nvSpPr>
        <p:spPr>
          <a:xfrm>
            <a:off x="1600200" y="2971800"/>
            <a:ext cx="5943600" cy="457200"/>
          </a:xfrm>
          <a:prstGeom prst="rect">
            <a:avLst/>
          </a:prstGeom>
          <a:noFill/>
          <a:ln/>
        </p:spPr>
        <p:txBody>
          <a:bodyPr wrap="square" lIns="0" tIns="0" rIns="0" bIns="0" rtlCol="0" anchor="ctr"/>
          <a:lstStyle/>
          <a:p>
            <a:pPr algn="ctr" indent="0" marL="0">
              <a:buNone/>
            </a:pPr>
            <a:r>
              <a:rPr lang="en-US" sz="1200" i="1" dirty="0">
                <a:solidFill>
                  <a:srgbClr val="FFFFFF"/>
                </a:solidFill>
                <a:latin typeface="Arial" pitchFamily="34" charset="0"/>
                <a:ea typeface="Arial" pitchFamily="34" charset="-122"/>
                <a:cs typeface="Arial" pitchFamily="34" charset="-120"/>
              </a:rPr>
              <a:t>Supply Chain initiatives  ·  ELT Lead: Pheakdey  ·  LT Lead: Chandy</a:t>
            </a:r>
            <a:endParaRPr lang="en-US" sz="1200" dirty="0"/>
          </a:p>
        </p:txBody>
      </p:sp>
      <p:pic>
        <p:nvPicPr>
          <p:cNvPr id="9" name="Image 2" descr="/tmp/claude-0/sd/logo2.png">    </p:cNvPr>
          <p:cNvPicPr>
            <a:picLocks noChangeAspect="1"/>
          </p:cNvPicPr>
          <p:nvPr/>
        </p:nvPicPr>
        <p:blipFill>
          <a:blip r:embed="rId3"/>
          <a:stretch>
            <a:fillRect/>
          </a:stretch>
        </p:blipFill>
        <p:spPr>
          <a:xfrm>
            <a:off x="3063240" y="3931920"/>
            <a:ext cx="3017520" cy="53949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600" b="1" dirty="0">
                <a:solidFill>
                  <a:srgbClr val="F2F2F2"/>
                </a:solidFill>
                <a:latin typeface="Arial" pitchFamily="34" charset="0"/>
                <a:ea typeface="Arial" pitchFamily="34" charset="-122"/>
                <a:cs typeface="Arial" pitchFamily="34" charset="-120"/>
              </a:rPr>
              <a:t>Three commitments for 2027</a:t>
            </a:r>
            <a:endParaRPr lang="en-US" sz="2600" dirty="0"/>
          </a:p>
        </p:txBody>
      </p:sp>
      <p:sp>
        <p:nvSpPr>
          <p:cNvPr id="3" name="Text 1"/>
          <p:cNvSpPr txBox="1"/>
          <p:nvPr/>
        </p:nvSpPr>
        <p:spPr>
          <a:xfrm>
            <a:off x="457200" y="868680"/>
            <a:ext cx="8229600" cy="274320"/>
          </a:xfrm>
          <a:prstGeom prst="rect">
            <a:avLst/>
          </a:prstGeom>
          <a:noFill/>
          <a:ln/>
        </p:spPr>
        <p:txBody>
          <a:bodyPr wrap="square" lIns="0" tIns="0" rIns="0" bIns="0" rtlCol="0" anchor="ctr"/>
          <a:lstStyle/>
          <a:p>
            <a:pPr indent="0" marL="0">
              <a:buNone/>
            </a:pPr>
            <a:r>
              <a:rPr lang="en-US" sz="1300" dirty="0">
                <a:solidFill>
                  <a:srgbClr val="B8C4DA"/>
                </a:solidFill>
                <a:latin typeface="Arial" pitchFamily="34" charset="0"/>
                <a:ea typeface="Arial" pitchFamily="34" charset="-122"/>
                <a:cs typeface="Arial" pitchFamily="34" charset="-120"/>
              </a:rPr>
              <a:t>Each one cuts what it costs us to get steel to the customer, or how long the customer waits for it.</a:t>
            </a:r>
            <a:endParaRPr lang="en-US" sz="1300" dirty="0"/>
          </a:p>
        </p:txBody>
      </p:sp>
      <p:sp>
        <p:nvSpPr>
          <p:cNvPr id="4" name="Shape 2"/>
          <p:cNvSpPr/>
          <p:nvPr/>
        </p:nvSpPr>
        <p:spPr>
          <a:xfrm>
            <a:off x="457200" y="1325880"/>
            <a:ext cx="2606040" cy="2880360"/>
          </a:xfrm>
          <a:prstGeom prst="roundRect">
            <a:avLst>
              <a:gd name="adj" fmla="val 3509"/>
            </a:avLst>
          </a:prstGeom>
          <a:solidFill>
            <a:srgbClr val="14305C"/>
          </a:solidFill>
          <a:ln w="12700">
            <a:solidFill>
              <a:srgbClr val="14305C"/>
            </a:solidFill>
            <a:prstDash val="solid"/>
          </a:ln>
        </p:spPr>
      </p:sp>
      <p:sp>
        <p:nvSpPr>
          <p:cNvPr id="5" name="Text 3"/>
          <p:cNvSpPr txBox="1"/>
          <p:nvPr/>
        </p:nvSpPr>
        <p:spPr>
          <a:xfrm>
            <a:off x="658368" y="1481328"/>
            <a:ext cx="91440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1.1</a:t>
            </a:r>
            <a:endParaRPr lang="en-US" sz="1400" dirty="0"/>
          </a:p>
        </p:txBody>
      </p:sp>
      <p:sp>
        <p:nvSpPr>
          <p:cNvPr id="6" name="Text 4"/>
          <p:cNvSpPr txBox="1"/>
          <p:nvPr/>
        </p:nvSpPr>
        <p:spPr>
          <a:xfrm>
            <a:off x="658368" y="1755648"/>
            <a:ext cx="2240280" cy="5029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Regional distribution centres</a:t>
            </a:r>
            <a:endParaRPr lang="en-US" sz="1500" dirty="0"/>
          </a:p>
        </p:txBody>
      </p:sp>
      <p:sp>
        <p:nvSpPr>
          <p:cNvPr id="7" name="Text 5"/>
          <p:cNvSpPr txBox="1"/>
          <p:nvPr/>
        </p:nvSpPr>
        <p:spPr>
          <a:xfrm>
            <a:off x="658368" y="2286000"/>
            <a:ext cx="2240280" cy="594360"/>
          </a:xfrm>
          <a:prstGeom prst="rect">
            <a:avLst/>
          </a:prstGeom>
          <a:noFill/>
          <a:ln/>
        </p:spPr>
        <p:txBody>
          <a:bodyPr wrap="square" lIns="0" tIns="0" rIns="0" bIns="0" rtlCol="0" anchor="ctr"/>
          <a:lstStyle/>
          <a:p>
            <a:pPr indent="0" marL="0">
              <a:buNone/>
            </a:pPr>
            <a:r>
              <a:rPr lang="en-US" sz="3600" b="1" dirty="0">
                <a:solidFill>
                  <a:srgbClr val="E8A33D"/>
                </a:solidFill>
                <a:latin typeface="Arial" pitchFamily="34" charset="0"/>
                <a:ea typeface="Arial" pitchFamily="34" charset="-122"/>
                <a:cs typeface="Arial" pitchFamily="34" charset="-120"/>
              </a:rPr>
              <a:t>≥10%</a:t>
            </a:r>
            <a:endParaRPr lang="en-US" sz="3600" dirty="0"/>
          </a:p>
        </p:txBody>
      </p:sp>
      <p:sp>
        <p:nvSpPr>
          <p:cNvPr id="8" name="Text 6"/>
          <p:cNvSpPr txBox="1"/>
          <p:nvPr/>
        </p:nvSpPr>
        <p:spPr>
          <a:xfrm>
            <a:off x="658368" y="2880360"/>
            <a:ext cx="2240280" cy="4114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lower cost-to-serve per ton vs 2026</a:t>
            </a:r>
            <a:endParaRPr lang="en-US" sz="1200" dirty="0"/>
          </a:p>
        </p:txBody>
      </p:sp>
      <p:sp>
        <p:nvSpPr>
          <p:cNvPr id="9" name="Text 7"/>
          <p:cNvSpPr txBox="1"/>
          <p:nvPr/>
        </p:nvSpPr>
        <p:spPr>
          <a:xfrm>
            <a:off x="658368" y="3337560"/>
            <a:ext cx="2240280" cy="73152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11 branches to 2 DCs. Study and decision in 2027, savings from 2028.</a:t>
            </a:r>
            <a:endParaRPr lang="en-US" sz="1100" dirty="0"/>
          </a:p>
        </p:txBody>
      </p:sp>
      <p:sp>
        <p:nvSpPr>
          <p:cNvPr id="10" name="Shape 8"/>
          <p:cNvSpPr/>
          <p:nvPr/>
        </p:nvSpPr>
        <p:spPr>
          <a:xfrm>
            <a:off x="3246120" y="1325880"/>
            <a:ext cx="2606040" cy="2880360"/>
          </a:xfrm>
          <a:prstGeom prst="roundRect">
            <a:avLst>
              <a:gd name="adj" fmla="val 3509"/>
            </a:avLst>
          </a:prstGeom>
          <a:solidFill>
            <a:srgbClr val="14305C"/>
          </a:solidFill>
          <a:ln w="12700">
            <a:solidFill>
              <a:srgbClr val="14305C"/>
            </a:solidFill>
            <a:prstDash val="solid"/>
          </a:ln>
        </p:spPr>
      </p:sp>
      <p:sp>
        <p:nvSpPr>
          <p:cNvPr id="11" name="Text 9"/>
          <p:cNvSpPr txBox="1"/>
          <p:nvPr/>
        </p:nvSpPr>
        <p:spPr>
          <a:xfrm>
            <a:off x="3447288" y="1481328"/>
            <a:ext cx="91440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1.2</a:t>
            </a:r>
            <a:endParaRPr lang="en-US" sz="1400" dirty="0"/>
          </a:p>
        </p:txBody>
      </p:sp>
      <p:sp>
        <p:nvSpPr>
          <p:cNvPr id="12" name="Text 10"/>
          <p:cNvSpPr txBox="1"/>
          <p:nvPr/>
        </p:nvSpPr>
        <p:spPr>
          <a:xfrm>
            <a:off x="3447288" y="1755648"/>
            <a:ext cx="2240280" cy="5029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Fleet cost-to-serve</a:t>
            </a:r>
            <a:endParaRPr lang="en-US" sz="1500" dirty="0"/>
          </a:p>
        </p:txBody>
      </p:sp>
      <p:sp>
        <p:nvSpPr>
          <p:cNvPr id="13" name="Text 11"/>
          <p:cNvSpPr txBox="1"/>
          <p:nvPr/>
        </p:nvSpPr>
        <p:spPr>
          <a:xfrm>
            <a:off x="3447288" y="2286000"/>
            <a:ext cx="2240280" cy="594360"/>
          </a:xfrm>
          <a:prstGeom prst="rect">
            <a:avLst/>
          </a:prstGeom>
          <a:noFill/>
          <a:ln/>
        </p:spPr>
        <p:txBody>
          <a:bodyPr wrap="square" lIns="0" tIns="0" rIns="0" bIns="0" rtlCol="0" anchor="ctr"/>
          <a:lstStyle/>
          <a:p>
            <a:pPr indent="0" marL="0">
              <a:buNone/>
            </a:pPr>
            <a:r>
              <a:rPr lang="en-US" sz="3600" b="1" dirty="0">
                <a:solidFill>
                  <a:srgbClr val="E8A33D"/>
                </a:solidFill>
                <a:latin typeface="Arial" pitchFamily="34" charset="0"/>
                <a:ea typeface="Arial" pitchFamily="34" charset="-122"/>
                <a:cs typeface="Arial" pitchFamily="34" charset="-120"/>
              </a:rPr>
              <a:t>−5%</a:t>
            </a:r>
            <a:endParaRPr lang="en-US" sz="3600" dirty="0"/>
          </a:p>
        </p:txBody>
      </p:sp>
      <p:sp>
        <p:nvSpPr>
          <p:cNvPr id="14" name="Text 12"/>
          <p:cNvSpPr txBox="1"/>
          <p:nvPr/>
        </p:nvSpPr>
        <p:spPr>
          <a:xfrm>
            <a:off x="3447288" y="2880360"/>
            <a:ext cx="2240280" cy="4114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outbound transport cost per ton-km</a:t>
            </a:r>
            <a:endParaRPr lang="en-US" sz="1200" dirty="0"/>
          </a:p>
        </p:txBody>
      </p:sp>
      <p:sp>
        <p:nvSpPr>
          <p:cNvPr id="15" name="Text 13"/>
          <p:cNvSpPr txBox="1"/>
          <p:nvPr/>
        </p:nvSpPr>
        <p:spPr>
          <a:xfrm>
            <a:off x="3447288" y="3337560"/>
            <a:ext cx="2240280" cy="73152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Apr–Aug 2027 vs 2026. Fuel control, contracts, own fleet vs 3PL by lane.</a:t>
            </a:r>
            <a:endParaRPr lang="en-US" sz="1100" dirty="0"/>
          </a:p>
        </p:txBody>
      </p:sp>
      <p:sp>
        <p:nvSpPr>
          <p:cNvPr id="16" name="Shape 14"/>
          <p:cNvSpPr/>
          <p:nvPr/>
        </p:nvSpPr>
        <p:spPr>
          <a:xfrm>
            <a:off x="6035040" y="1325880"/>
            <a:ext cx="2606040" cy="2880360"/>
          </a:xfrm>
          <a:prstGeom prst="roundRect">
            <a:avLst>
              <a:gd name="adj" fmla="val 3509"/>
            </a:avLst>
          </a:prstGeom>
          <a:solidFill>
            <a:srgbClr val="14305C"/>
          </a:solidFill>
          <a:ln w="12700">
            <a:solidFill>
              <a:srgbClr val="14305C"/>
            </a:solidFill>
            <a:prstDash val="solid"/>
          </a:ln>
        </p:spPr>
      </p:sp>
      <p:sp>
        <p:nvSpPr>
          <p:cNvPr id="17" name="Text 15"/>
          <p:cNvSpPr txBox="1"/>
          <p:nvPr/>
        </p:nvSpPr>
        <p:spPr>
          <a:xfrm>
            <a:off x="6236208" y="1481328"/>
            <a:ext cx="91440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3.2</a:t>
            </a:r>
            <a:endParaRPr lang="en-US" sz="1400" dirty="0"/>
          </a:p>
        </p:txBody>
      </p:sp>
      <p:sp>
        <p:nvSpPr>
          <p:cNvPr id="18" name="Text 16"/>
          <p:cNvSpPr txBox="1"/>
          <p:nvPr/>
        </p:nvSpPr>
        <p:spPr>
          <a:xfrm>
            <a:off x="6236208" y="1755648"/>
            <a:ext cx="2240280" cy="502920"/>
          </a:xfrm>
          <a:prstGeom prst="rect">
            <a:avLst/>
          </a:prstGeom>
          <a:noFill/>
          <a:ln/>
        </p:spPr>
        <p:txBody>
          <a:bodyPr wrap="square" lIns="0" tIns="0" rIns="0" bIns="0" rtlCol="0" anchor="t"/>
          <a:lstStyle/>
          <a:p>
            <a:pPr indent="0" marL="0">
              <a:buNone/>
            </a:pPr>
            <a:r>
              <a:rPr lang="en-US" sz="1500" b="1" dirty="0">
                <a:solidFill>
                  <a:srgbClr val="FFFFFF"/>
                </a:solidFill>
                <a:latin typeface="Arial" pitchFamily="34" charset="0"/>
                <a:ea typeface="Arial" pitchFamily="34" charset="-122"/>
                <a:cs typeface="Arial" pitchFamily="34" charset="-120"/>
              </a:rPr>
              <a:t>ISI Live Delivery</a:t>
            </a:r>
            <a:endParaRPr lang="en-US" sz="1500" dirty="0"/>
          </a:p>
        </p:txBody>
      </p:sp>
      <p:sp>
        <p:nvSpPr>
          <p:cNvPr id="19" name="Text 17"/>
          <p:cNvSpPr txBox="1"/>
          <p:nvPr/>
        </p:nvSpPr>
        <p:spPr>
          <a:xfrm>
            <a:off x="6236208" y="2286000"/>
            <a:ext cx="2240280" cy="594360"/>
          </a:xfrm>
          <a:prstGeom prst="rect">
            <a:avLst/>
          </a:prstGeom>
          <a:noFill/>
          <a:ln/>
        </p:spPr>
        <p:txBody>
          <a:bodyPr wrap="square" lIns="0" tIns="0" rIns="0" bIns="0" rtlCol="0" anchor="ctr"/>
          <a:lstStyle/>
          <a:p>
            <a:pPr indent="0" marL="0">
              <a:buNone/>
            </a:pPr>
            <a:r>
              <a:rPr lang="en-US" sz="3600" b="1" dirty="0">
                <a:solidFill>
                  <a:srgbClr val="E8A33D"/>
                </a:solidFill>
                <a:latin typeface="Arial" pitchFamily="34" charset="0"/>
                <a:ea typeface="Arial" pitchFamily="34" charset="-122"/>
                <a:cs typeface="Arial" pitchFamily="34" charset="-120"/>
              </a:rPr>
              <a:t>0 days</a:t>
            </a:r>
            <a:endParaRPr lang="en-US" sz="3600" dirty="0"/>
          </a:p>
        </p:txBody>
      </p:sp>
      <p:sp>
        <p:nvSpPr>
          <p:cNvPr id="20" name="Text 18"/>
          <p:cNvSpPr txBox="1"/>
          <p:nvPr/>
        </p:nvSpPr>
        <p:spPr>
          <a:xfrm>
            <a:off x="6236208" y="2880360"/>
            <a:ext cx="2240280" cy="41148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from order capture to stock commit in SAP</a:t>
            </a:r>
            <a:endParaRPr lang="en-US" sz="1200" dirty="0"/>
          </a:p>
        </p:txBody>
      </p:sp>
      <p:sp>
        <p:nvSpPr>
          <p:cNvPr id="21" name="Text 19"/>
          <p:cNvSpPr txBox="1"/>
          <p:nvPr/>
        </p:nvSpPr>
        <p:spPr>
          <a:xfrm>
            <a:off x="6236208" y="3337560"/>
            <a:ext cx="2240280" cy="73152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Today 2 to 3 days. Plus ETA, live tracking and digital proof of delivery.</a:t>
            </a:r>
            <a:endParaRPr lang="en-US" sz="1100" dirty="0"/>
          </a:p>
        </p:txBody>
      </p:sp>
      <p:sp>
        <p:nvSpPr>
          <p:cNvPr id="22" name="Text 20"/>
          <p:cNvSpPr txBox="1"/>
          <p:nvPr/>
        </p:nvSpPr>
        <p:spPr>
          <a:xfrm>
            <a:off x="457200" y="4343400"/>
            <a:ext cx="8229600" cy="32004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All three due Sep 2027. </a:t>
            </a:r>
            <a:pPr indent="0" marL="0">
              <a:buNone/>
            </a:pPr>
            <a:r>
              <a:rPr lang="en-US" sz="1200" dirty="0">
                <a:solidFill>
                  <a:srgbClr val="B8C4DA"/>
                </a:solidFill>
                <a:latin typeface="Arial" pitchFamily="34" charset="0"/>
                <a:ea typeface="Arial" pitchFamily="34" charset="-122"/>
                <a:cs typeface="Arial" pitchFamily="34" charset="-120"/>
              </a:rPr>
              <a:t>They feed the Pillar 4 KPIs: Net Profit $18m, Productivity Savings ≥$2m, Process Improvement ≥90%.</a:t>
            </a:r>
            <a:endParaRPr lang="en-US" sz="12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Where we start: 2026 baseline</a:t>
            </a:r>
            <a:endParaRPr lang="en-US" sz="2000" dirty="0"/>
          </a:p>
        </p:txBody>
      </p:sp>
      <p:sp>
        <p:nvSpPr>
          <p:cNvPr id="3" name="Shape 1"/>
          <p:cNvSpPr/>
          <p:nvPr/>
        </p:nvSpPr>
        <p:spPr>
          <a:xfrm>
            <a:off x="365760" y="868680"/>
            <a:ext cx="2560320" cy="1508760"/>
          </a:xfrm>
          <a:prstGeom prst="roundRect">
            <a:avLst>
              <a:gd name="adj" fmla="val 4848"/>
            </a:avLst>
          </a:prstGeom>
          <a:solidFill>
            <a:srgbClr val="FFFFFF"/>
          </a:solidFill>
          <a:ln w="9525">
            <a:solidFill>
              <a:srgbClr val="C9D2E0"/>
            </a:solidFill>
            <a:prstDash val="solid"/>
          </a:ln>
        </p:spPr>
      </p:sp>
      <p:sp>
        <p:nvSpPr>
          <p:cNvPr id="4" name="Text 2"/>
          <p:cNvSpPr txBox="1"/>
          <p:nvPr/>
        </p:nvSpPr>
        <p:spPr>
          <a:xfrm>
            <a:off x="548640" y="1005840"/>
            <a:ext cx="2240280" cy="502920"/>
          </a:xfrm>
          <a:prstGeom prst="rect">
            <a:avLst/>
          </a:prstGeom>
          <a:noFill/>
          <a:ln/>
        </p:spPr>
        <p:txBody>
          <a:bodyPr wrap="square" lIns="0" tIns="0" rIns="0" bIns="0" rtlCol="0" anchor="ctr"/>
          <a:lstStyle/>
          <a:p>
            <a:pPr indent="0" marL="0">
              <a:buNone/>
            </a:pPr>
            <a:r>
              <a:rPr lang="en-US" sz="2600" b="1" dirty="0">
                <a:solidFill>
                  <a:srgbClr val="011E41"/>
                </a:solidFill>
                <a:latin typeface="Arial" pitchFamily="34" charset="0"/>
                <a:ea typeface="Arial" pitchFamily="34" charset="-122"/>
                <a:cs typeface="Arial" pitchFamily="34" charset="-120"/>
              </a:rPr>
              <a:t>11</a:t>
            </a:r>
            <a:endParaRPr lang="en-US" sz="2600" dirty="0"/>
          </a:p>
        </p:txBody>
      </p:sp>
      <p:sp>
        <p:nvSpPr>
          <p:cNvPr id="5" name="Text 3"/>
          <p:cNvSpPr txBox="1"/>
          <p:nvPr/>
        </p:nvSpPr>
        <p:spPr>
          <a:xfrm>
            <a:off x="548640" y="1527048"/>
            <a:ext cx="2240280" cy="54864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provincial branches served from the factory DC</a:t>
            </a:r>
            <a:endParaRPr lang="en-US" sz="1150" dirty="0"/>
          </a:p>
        </p:txBody>
      </p:sp>
      <p:sp>
        <p:nvSpPr>
          <p:cNvPr id="6" name="Text 4"/>
          <p:cNvSpPr txBox="1"/>
          <p:nvPr/>
        </p:nvSpPr>
        <p:spPr>
          <a:xfrm>
            <a:off x="548640" y="2084832"/>
            <a:ext cx="2240280" cy="201168"/>
          </a:xfrm>
          <a:prstGeom prst="rect">
            <a:avLst/>
          </a:prstGeom>
          <a:noFill/>
          <a:ln/>
        </p:spPr>
        <p:txBody>
          <a:bodyPr wrap="square" lIns="0" tIns="0" rIns="0" bIns="0" rtlCol="0" anchor="ctr"/>
          <a:lstStyle/>
          <a:p>
            <a:pPr indent="0" marL="0">
              <a:buNone/>
            </a:pPr>
            <a:r>
              <a:rPr lang="en-US" sz="900" i="1" dirty="0">
                <a:solidFill>
                  <a:srgbClr val="5B6577"/>
                </a:solidFill>
                <a:latin typeface="Arial" pitchFamily="34" charset="0"/>
                <a:ea typeface="Arial" pitchFamily="34" charset="-122"/>
                <a:cs typeface="Arial" pitchFamily="34" charset="-120"/>
              </a:rPr>
              <a:t>Pre-work, initiative 1.1</a:t>
            </a:r>
            <a:endParaRPr lang="en-US" sz="900" dirty="0"/>
          </a:p>
        </p:txBody>
      </p:sp>
      <p:sp>
        <p:nvSpPr>
          <p:cNvPr id="7" name="Shape 5"/>
          <p:cNvSpPr/>
          <p:nvPr/>
        </p:nvSpPr>
        <p:spPr>
          <a:xfrm>
            <a:off x="3108960" y="868680"/>
            <a:ext cx="2560320" cy="1508760"/>
          </a:xfrm>
          <a:prstGeom prst="roundRect">
            <a:avLst>
              <a:gd name="adj" fmla="val 4848"/>
            </a:avLst>
          </a:prstGeom>
          <a:solidFill>
            <a:srgbClr val="FFFFFF"/>
          </a:solidFill>
          <a:ln w="9525">
            <a:solidFill>
              <a:srgbClr val="C9D2E0"/>
            </a:solidFill>
            <a:prstDash val="solid"/>
          </a:ln>
        </p:spPr>
      </p:sp>
      <p:sp>
        <p:nvSpPr>
          <p:cNvPr id="8" name="Text 6"/>
          <p:cNvSpPr txBox="1"/>
          <p:nvPr/>
        </p:nvSpPr>
        <p:spPr>
          <a:xfrm>
            <a:off x="3291840" y="1005840"/>
            <a:ext cx="2240280" cy="502920"/>
          </a:xfrm>
          <a:prstGeom prst="rect">
            <a:avLst/>
          </a:prstGeom>
          <a:noFill/>
          <a:ln/>
        </p:spPr>
        <p:txBody>
          <a:bodyPr wrap="square" lIns="0" tIns="0" rIns="0" bIns="0" rtlCol="0" anchor="ctr"/>
          <a:lstStyle/>
          <a:p>
            <a:pPr indent="0" marL="0">
              <a:buNone/>
            </a:pPr>
            <a:r>
              <a:rPr lang="en-US" sz="2600" b="1" dirty="0">
                <a:solidFill>
                  <a:srgbClr val="011E41"/>
                </a:solidFill>
                <a:latin typeface="Arial" pitchFamily="34" charset="0"/>
                <a:ea typeface="Arial" pitchFamily="34" charset="-122"/>
                <a:cs typeface="Arial" pitchFamily="34" charset="-120"/>
              </a:rPr>
              <a:t>2–3 days</a:t>
            </a:r>
            <a:endParaRPr lang="en-US" sz="2600" dirty="0"/>
          </a:p>
        </p:txBody>
      </p:sp>
      <p:sp>
        <p:nvSpPr>
          <p:cNvPr id="9" name="Text 7"/>
          <p:cNvSpPr txBox="1"/>
          <p:nvPr/>
        </p:nvSpPr>
        <p:spPr>
          <a:xfrm>
            <a:off x="3291840" y="1527048"/>
            <a:ext cx="2240280" cy="54864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lag from order capture to stock commit in SAP (manual cut-off)</a:t>
            </a:r>
            <a:endParaRPr lang="en-US" sz="1150" dirty="0"/>
          </a:p>
        </p:txBody>
      </p:sp>
      <p:sp>
        <p:nvSpPr>
          <p:cNvPr id="10" name="Text 8"/>
          <p:cNvSpPr txBox="1"/>
          <p:nvPr/>
        </p:nvSpPr>
        <p:spPr>
          <a:xfrm>
            <a:off x="3291840" y="2084832"/>
            <a:ext cx="2240280" cy="201168"/>
          </a:xfrm>
          <a:prstGeom prst="rect">
            <a:avLst/>
          </a:prstGeom>
          <a:noFill/>
          <a:ln/>
        </p:spPr>
        <p:txBody>
          <a:bodyPr wrap="square" lIns="0" tIns="0" rIns="0" bIns="0" rtlCol="0" anchor="ctr"/>
          <a:lstStyle/>
          <a:p>
            <a:pPr indent="0" marL="0">
              <a:buNone/>
            </a:pPr>
            <a:r>
              <a:rPr lang="en-US" sz="900" i="1" dirty="0">
                <a:solidFill>
                  <a:srgbClr val="5B6577"/>
                </a:solidFill>
                <a:latin typeface="Arial" pitchFamily="34" charset="0"/>
                <a:ea typeface="Arial" pitchFamily="34" charset="-122"/>
                <a:cs typeface="Arial" pitchFamily="34" charset="-120"/>
              </a:rPr>
              <a:t>Pre-work, initiative 3.2</a:t>
            </a:r>
            <a:endParaRPr lang="en-US" sz="900" dirty="0"/>
          </a:p>
        </p:txBody>
      </p:sp>
      <p:sp>
        <p:nvSpPr>
          <p:cNvPr id="11" name="Shape 9"/>
          <p:cNvSpPr/>
          <p:nvPr/>
        </p:nvSpPr>
        <p:spPr>
          <a:xfrm>
            <a:off x="365760" y="2560320"/>
            <a:ext cx="2560320" cy="1508760"/>
          </a:xfrm>
          <a:prstGeom prst="roundRect">
            <a:avLst>
              <a:gd name="adj" fmla="val 4848"/>
            </a:avLst>
          </a:prstGeom>
          <a:solidFill>
            <a:srgbClr val="FFFFFF"/>
          </a:solidFill>
          <a:ln w="9525">
            <a:solidFill>
              <a:srgbClr val="C9D2E0"/>
            </a:solidFill>
            <a:prstDash val="solid"/>
          </a:ln>
        </p:spPr>
      </p:sp>
      <p:sp>
        <p:nvSpPr>
          <p:cNvPr id="12" name="Text 10"/>
          <p:cNvSpPr txBox="1"/>
          <p:nvPr/>
        </p:nvSpPr>
        <p:spPr>
          <a:xfrm>
            <a:off x="548640" y="2697480"/>
            <a:ext cx="2240280" cy="502920"/>
          </a:xfrm>
          <a:prstGeom prst="rect">
            <a:avLst/>
          </a:prstGeom>
          <a:noFill/>
          <a:ln/>
        </p:spPr>
        <p:txBody>
          <a:bodyPr wrap="square" lIns="0" tIns="0" rIns="0" bIns="0" rtlCol="0" anchor="ctr"/>
          <a:lstStyle/>
          <a:p>
            <a:pPr indent="0" marL="0">
              <a:buNone/>
            </a:pPr>
            <a:r>
              <a:rPr lang="en-US" sz="2600" b="1" dirty="0">
                <a:solidFill>
                  <a:srgbClr val="011E41"/>
                </a:solidFill>
                <a:latin typeface="Arial" pitchFamily="34" charset="0"/>
                <a:ea typeface="Arial" pitchFamily="34" charset="-122"/>
                <a:cs typeface="Arial" pitchFamily="34" charset="-120"/>
              </a:rPr>
              <a:t>17k–31k t</a:t>
            </a:r>
            <a:endParaRPr lang="en-US" sz="2600" dirty="0"/>
          </a:p>
        </p:txBody>
      </p:sp>
      <p:sp>
        <p:nvSpPr>
          <p:cNvPr id="13" name="Text 11"/>
          <p:cNvSpPr txBox="1"/>
          <p:nvPr/>
        </p:nvSpPr>
        <p:spPr>
          <a:xfrm>
            <a:off x="548640" y="3218688"/>
            <a:ext cx="2240280" cy="54864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steel delivered per month from the SSK factory, Jan–Aug 2026</a:t>
            </a:r>
            <a:endParaRPr lang="en-US" sz="1150" dirty="0"/>
          </a:p>
        </p:txBody>
      </p:sp>
      <p:sp>
        <p:nvSpPr>
          <p:cNvPr id="14" name="Text 12"/>
          <p:cNvSpPr txBox="1"/>
          <p:nvPr/>
        </p:nvSpPr>
        <p:spPr>
          <a:xfrm>
            <a:off x="548640" y="3776472"/>
            <a:ext cx="2240280" cy="201168"/>
          </a:xfrm>
          <a:prstGeom prst="rect">
            <a:avLst/>
          </a:prstGeom>
          <a:noFill/>
          <a:ln/>
        </p:spPr>
        <p:txBody>
          <a:bodyPr wrap="square" lIns="0" tIns="0" rIns="0" bIns="0" rtlCol="0" anchor="ctr"/>
          <a:lstStyle/>
          <a:p>
            <a:pPr indent="0" marL="0">
              <a:buNone/>
            </a:pPr>
            <a:r>
              <a:rPr lang="en-US" sz="900" i="1" dirty="0">
                <a:solidFill>
                  <a:srgbClr val="5B6577"/>
                </a:solidFill>
                <a:latin typeface="Arial" pitchFamily="34" charset="0"/>
                <a:ea typeface="Arial" pitchFamily="34" charset="-122"/>
                <a:cs typeface="Arial" pitchFamily="34" charset="-120"/>
              </a:rPr>
              <a:t>SAP MB51 goods issues</a:t>
            </a:r>
            <a:endParaRPr lang="en-US" sz="900" dirty="0"/>
          </a:p>
        </p:txBody>
      </p:sp>
      <p:sp>
        <p:nvSpPr>
          <p:cNvPr id="15" name="Shape 13"/>
          <p:cNvSpPr/>
          <p:nvPr/>
        </p:nvSpPr>
        <p:spPr>
          <a:xfrm>
            <a:off x="3108960" y="2560320"/>
            <a:ext cx="2560320" cy="1508760"/>
          </a:xfrm>
          <a:prstGeom prst="roundRect">
            <a:avLst>
              <a:gd name="adj" fmla="val 4848"/>
            </a:avLst>
          </a:prstGeom>
          <a:solidFill>
            <a:srgbClr val="FFFFFF"/>
          </a:solidFill>
          <a:ln w="9525">
            <a:solidFill>
              <a:srgbClr val="C9D2E0"/>
            </a:solidFill>
            <a:prstDash val="solid"/>
          </a:ln>
        </p:spPr>
      </p:sp>
      <p:sp>
        <p:nvSpPr>
          <p:cNvPr id="16" name="Text 14"/>
          <p:cNvSpPr txBox="1"/>
          <p:nvPr/>
        </p:nvSpPr>
        <p:spPr>
          <a:xfrm>
            <a:off x="3291840" y="2697480"/>
            <a:ext cx="2240280" cy="502920"/>
          </a:xfrm>
          <a:prstGeom prst="rect">
            <a:avLst/>
          </a:prstGeom>
          <a:noFill/>
          <a:ln/>
        </p:spPr>
        <p:txBody>
          <a:bodyPr wrap="square" lIns="0" tIns="0" rIns="0" bIns="0" rtlCol="0" anchor="ctr"/>
          <a:lstStyle/>
          <a:p>
            <a:pPr indent="0" marL="0">
              <a:buNone/>
            </a:pPr>
            <a:r>
              <a:rPr lang="en-US" sz="2600" b="1" dirty="0">
                <a:solidFill>
                  <a:srgbClr val="011E41"/>
                </a:solidFill>
                <a:latin typeface="Arial" pitchFamily="34" charset="0"/>
                <a:ea typeface="Arial" pitchFamily="34" charset="-122"/>
                <a:cs typeface="Arial" pitchFamily="34" charset="-120"/>
              </a:rPr>
              <a:t>~24,000 L</a:t>
            </a:r>
            <a:endParaRPr lang="en-US" sz="2600" dirty="0"/>
          </a:p>
        </p:txBody>
      </p:sp>
      <p:sp>
        <p:nvSpPr>
          <p:cNvPr id="17" name="Text 15"/>
          <p:cNvSpPr txBox="1"/>
          <p:nvPr/>
        </p:nvSpPr>
        <p:spPr>
          <a:xfrm>
            <a:off x="3291840" y="3218688"/>
            <a:ext cx="2240280" cy="548640"/>
          </a:xfrm>
          <a:prstGeom prst="rect">
            <a:avLst/>
          </a:prstGeom>
          <a:noFill/>
          <a:ln/>
        </p:spPr>
        <p:txBody>
          <a:bodyPr wrap="square" lIns="0" tIns="0" rIns="0" bIns="0" rtlCol="0" anchor="t"/>
          <a:lstStyle/>
          <a:p>
            <a:pPr indent="0" marL="0">
              <a:buNone/>
            </a:pPr>
            <a:r>
              <a:rPr lang="en-US" sz="1150" dirty="0">
                <a:solidFill>
                  <a:srgbClr val="1A1A1A"/>
                </a:solidFill>
                <a:latin typeface="Arial" pitchFamily="34" charset="0"/>
                <a:ea typeface="Arial" pitchFamily="34" charset="-122"/>
                <a:cs typeface="Arial" pitchFamily="34" charset="-120"/>
              </a:rPr>
              <a:t>fuel per month, own trucks and forklifts (10,300 L logged in 13 days)</a:t>
            </a:r>
            <a:endParaRPr lang="en-US" sz="1150" dirty="0"/>
          </a:p>
        </p:txBody>
      </p:sp>
      <p:sp>
        <p:nvSpPr>
          <p:cNvPr id="18" name="Text 16"/>
          <p:cNvSpPr txBox="1"/>
          <p:nvPr/>
        </p:nvSpPr>
        <p:spPr>
          <a:xfrm>
            <a:off x="3291840" y="3776472"/>
            <a:ext cx="2240280" cy="201168"/>
          </a:xfrm>
          <a:prstGeom prst="rect">
            <a:avLst/>
          </a:prstGeom>
          <a:noFill/>
          <a:ln/>
        </p:spPr>
        <p:txBody>
          <a:bodyPr wrap="square" lIns="0" tIns="0" rIns="0" bIns="0" rtlCol="0" anchor="ctr"/>
          <a:lstStyle/>
          <a:p>
            <a:pPr indent="0" marL="0">
              <a:buNone/>
            </a:pPr>
            <a:r>
              <a:rPr lang="en-US" sz="900" i="1" dirty="0">
                <a:solidFill>
                  <a:srgbClr val="5B6577"/>
                </a:solidFill>
                <a:latin typeface="Arial" pitchFamily="34" charset="0"/>
                <a:ea typeface="Arial" pitchFamily="34" charset="-122"/>
                <a:cs typeface="Arial" pitchFamily="34" charset="-120"/>
              </a:rPr>
              <a:t>Fuel Refill records, 26 Sep – 8 Oct 2026</a:t>
            </a:r>
            <a:endParaRPr lang="en-US" sz="900" dirty="0"/>
          </a:p>
        </p:txBody>
      </p:sp>
      <p:sp>
        <p:nvSpPr>
          <p:cNvPr id="19" name="Shape 17"/>
          <p:cNvSpPr/>
          <p:nvPr/>
        </p:nvSpPr>
        <p:spPr>
          <a:xfrm>
            <a:off x="5852160" y="868680"/>
            <a:ext cx="2926080" cy="3200400"/>
          </a:xfrm>
          <a:prstGeom prst="roundRect">
            <a:avLst>
              <a:gd name="adj" fmla="val 2500"/>
            </a:avLst>
          </a:prstGeom>
          <a:solidFill>
            <a:srgbClr val="011E41"/>
          </a:solidFill>
          <a:ln w="12700">
            <a:solidFill>
              <a:srgbClr val="011E41"/>
            </a:solidFill>
            <a:prstDash val="solid"/>
          </a:ln>
        </p:spPr>
      </p:sp>
      <p:sp>
        <p:nvSpPr>
          <p:cNvPr id="20" name="Text 18"/>
          <p:cNvSpPr txBox="1"/>
          <p:nvPr/>
        </p:nvSpPr>
        <p:spPr>
          <a:xfrm>
            <a:off x="6035040" y="987552"/>
            <a:ext cx="256032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Already live</a:t>
            </a:r>
            <a:endParaRPr lang="en-US" sz="1400" dirty="0"/>
          </a:p>
        </p:txBody>
      </p:sp>
      <p:sp>
        <p:nvSpPr>
          <p:cNvPr id="21" name="Text 19"/>
          <p:cNvSpPr txBox="1"/>
          <p:nvPr/>
        </p:nvSpPr>
        <p:spPr>
          <a:xfrm>
            <a:off x="6035040" y="1280160"/>
            <a:ext cx="2606040" cy="132588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Delivery Journey app: Gate In, Gate Out, 1 km arrival check, proof of delivery, two-way rating</a:t>
            </a:r>
            <a:endParaRPr lang="en-US" sz="1100" dirty="0"/>
          </a:p>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Fuel Refill app: every refill with odometer and pump photo, reviewed</a:t>
            </a:r>
            <a:endParaRPr lang="en-US" sz="1100" dirty="0"/>
          </a:p>
        </p:txBody>
      </p:sp>
      <p:sp>
        <p:nvSpPr>
          <p:cNvPr id="22" name="Text 20"/>
          <p:cNvSpPr txBox="1"/>
          <p:nvPr/>
        </p:nvSpPr>
        <p:spPr>
          <a:xfrm>
            <a:off x="6035040" y="2697480"/>
            <a:ext cx="256032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Still missing</a:t>
            </a:r>
            <a:endParaRPr lang="en-US" sz="1400" dirty="0"/>
          </a:p>
        </p:txBody>
      </p:sp>
      <p:sp>
        <p:nvSpPr>
          <p:cNvPr id="23" name="Text 21"/>
          <p:cNvSpPr txBox="1"/>
          <p:nvPr/>
        </p:nvSpPr>
        <p:spPr>
          <a:xfrm>
            <a:off x="6035040" y="2990088"/>
            <a:ext cx="2606040" cy="8229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2026 cost per ton-km by lane, own fleet and 3PL</a:t>
            </a:r>
            <a:endParaRPr lang="en-US" sz="1100" dirty="0"/>
          </a:p>
          <a:p>
            <a:pPr marL="342900" indent="-342900">
              <a:spcAft>
                <a:spcPts val="400"/>
              </a:spcAft>
              <a:buSzPct val="100000"/>
              <a:buChar char="•"/>
            </a:pPr>
            <a:r>
              <a:rPr lang="en-US" sz="1100" dirty="0">
                <a:solidFill>
                  <a:srgbClr val="FFFFFF"/>
                </a:solidFill>
                <a:latin typeface="Arial" pitchFamily="34" charset="0"/>
                <a:ea typeface="Arial" pitchFamily="34" charset="-122"/>
                <a:cs typeface="Arial" pitchFamily="34" charset="-120"/>
              </a:rPr>
              <a:t>Cost-to-serve per branch</a:t>
            </a:r>
            <a:endParaRPr lang="en-US" sz="1100" dirty="0"/>
          </a:p>
        </p:txBody>
      </p:sp>
      <p:sp>
        <p:nvSpPr>
          <p:cNvPr id="24" name="Shape 22"/>
          <p:cNvSpPr/>
          <p:nvPr/>
        </p:nvSpPr>
        <p:spPr>
          <a:xfrm>
            <a:off x="5852160" y="4206240"/>
            <a:ext cx="2926080" cy="502920"/>
          </a:xfrm>
          <a:prstGeom prst="roundRect">
            <a:avLst>
              <a:gd name="adj" fmla="val 10909"/>
            </a:avLst>
          </a:prstGeom>
          <a:solidFill>
            <a:srgbClr val="FFF2A8"/>
          </a:solidFill>
          <a:ln w="9525">
            <a:solidFill>
              <a:srgbClr val="E0C84A"/>
            </a:solidFill>
            <a:prstDash val="solid"/>
          </a:ln>
        </p:spPr>
      </p:sp>
      <p:sp>
        <p:nvSpPr>
          <p:cNvPr id="25" name="Text 23"/>
          <p:cNvSpPr txBox="1"/>
          <p:nvPr/>
        </p:nvSpPr>
        <p:spPr>
          <a:xfrm>
            <a:off x="5943600" y="4206240"/>
            <a:ext cx="2743200" cy="502920"/>
          </a:xfrm>
          <a:prstGeom prst="rect">
            <a:avLst/>
          </a:prstGeom>
          <a:noFill/>
          <a:ln/>
        </p:spPr>
        <p:txBody>
          <a:bodyPr wrap="square" lIns="0" tIns="0" rIns="0" bIns="0" rtlCol="0" anchor="ctr"/>
          <a:lstStyle/>
          <a:p>
            <a:pPr indent="0" marL="0">
              <a:buNone/>
            </a:pPr>
            <a:r>
              <a:rPr lang="en-US" sz="1100" b="1" dirty="0">
                <a:solidFill>
                  <a:srgbClr val="1A1A1A"/>
                </a:solidFill>
                <a:latin typeface="Arial" pitchFamily="34" charset="0"/>
                <a:ea typeface="Arial" pitchFamily="34" charset="-122"/>
                <a:cs typeface="Arial" pitchFamily="34" charset="-120"/>
              </a:rPr>
              <a:t>Baselines to be validated with Finance by Jan 2027</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Already running: our own apps on every phone</a:t>
            </a:r>
            <a:endParaRPr lang="en-US" sz="2000" dirty="0"/>
          </a:p>
        </p:txBody>
      </p:sp>
      <p:pic>
        <p:nvPicPr>
          <p:cNvPr id="3" name="fuel-live.png" descr="/tmp/claude-0/sd/phones/fuel-live.png">    </p:cNvPr>
          <p:cNvPicPr>
            <a:picLocks noChangeAspect="1"/>
          </p:cNvPicPr>
          <p:nvPr/>
        </p:nvPicPr>
        <p:blipFill>
          <a:blip r:embed="rId1"/>
          <a:stretch>
            <a:fillRect/>
          </a:stretch>
        </p:blipFill>
        <p:spPr>
          <a:xfrm>
            <a:off x="791558" y="896112"/>
            <a:ext cx="1650191" cy="3108960"/>
          </a:xfrm>
          <a:prstGeom prst="rect">
            <a:avLst/>
          </a:prstGeom>
        </p:spPr>
      </p:pic>
      <p:sp>
        <p:nvSpPr>
          <p:cNvPr id="4" name="Shape 1"/>
          <p:cNvSpPr/>
          <p:nvPr/>
        </p:nvSpPr>
        <p:spPr>
          <a:xfrm>
            <a:off x="1159453" y="749808"/>
            <a:ext cx="914400" cy="274320"/>
          </a:xfrm>
          <a:prstGeom prst="roundRect">
            <a:avLst>
              <a:gd name="adj" fmla="val 20000"/>
            </a:avLst>
          </a:prstGeom>
          <a:solidFill>
            <a:srgbClr val="2E8B57"/>
          </a:solidFill>
          <a:ln w="12700">
            <a:solidFill>
              <a:srgbClr val="FFFFFF"/>
            </a:solidFill>
            <a:prstDash val="solid"/>
          </a:ln>
        </p:spPr>
      </p:sp>
      <p:sp>
        <p:nvSpPr>
          <p:cNvPr id="5" name="Text 2"/>
          <p:cNvSpPr txBox="1"/>
          <p:nvPr/>
        </p:nvSpPr>
        <p:spPr>
          <a:xfrm>
            <a:off x="1159453" y="74980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6" name="Text 3"/>
          <p:cNvSpPr txBox="1"/>
          <p:nvPr/>
        </p:nvSpPr>
        <p:spPr>
          <a:xfrm>
            <a:off x="654398" y="4078224"/>
            <a:ext cx="1924511" cy="457200"/>
          </a:xfrm>
          <a:prstGeom prst="rect">
            <a:avLst/>
          </a:prstGeom>
          <a:noFill/>
          <a:ln/>
        </p:spPr>
        <p:txBody>
          <a:bodyPr wrap="square" lIns="0" tIns="0" rIns="0" bIns="0" rtlCol="0" anchor="t"/>
          <a:lstStyle/>
          <a:p>
            <a:pPr algn="ctr" indent="0" marL="0">
              <a:buNone/>
            </a:pPr>
            <a:r>
              <a:rPr lang="en-US" sz="1100" b="1" dirty="0">
                <a:solidFill>
                  <a:srgbClr val="011E41"/>
                </a:solidFill>
                <a:latin typeface="Arial" pitchFamily="34" charset="0"/>
                <a:ea typeface="Arial" pitchFamily="34" charset="-122"/>
                <a:cs typeface="Arial" pitchFamily="34" charset="-120"/>
              </a:rPr>
              <a:t>Fuel refill: truck QR, odometer and pump photo</a:t>
            </a:r>
            <a:endParaRPr lang="en-US" sz="1100" dirty="0"/>
          </a:p>
        </p:txBody>
      </p:sp>
      <p:pic>
        <p:nvPicPr>
          <p:cNvPr id="7" name="del-gate-en.png" descr="/tmp/claude-0/sd/phones/del-gate-en.png">    </p:cNvPr>
          <p:cNvPicPr>
            <a:picLocks noChangeAspect="1"/>
          </p:cNvPicPr>
          <p:nvPr/>
        </p:nvPicPr>
        <p:blipFill>
          <a:blip r:embed="rId2"/>
          <a:stretch>
            <a:fillRect/>
          </a:stretch>
        </p:blipFill>
        <p:spPr>
          <a:xfrm>
            <a:off x="2761789" y="896112"/>
            <a:ext cx="1650191" cy="3108960"/>
          </a:xfrm>
          <a:prstGeom prst="rect">
            <a:avLst/>
          </a:prstGeom>
        </p:spPr>
      </p:pic>
      <p:sp>
        <p:nvSpPr>
          <p:cNvPr id="8" name="Shape 4"/>
          <p:cNvSpPr/>
          <p:nvPr/>
        </p:nvSpPr>
        <p:spPr>
          <a:xfrm>
            <a:off x="3129684" y="749808"/>
            <a:ext cx="914400" cy="274320"/>
          </a:xfrm>
          <a:prstGeom prst="roundRect">
            <a:avLst>
              <a:gd name="adj" fmla="val 20000"/>
            </a:avLst>
          </a:prstGeom>
          <a:solidFill>
            <a:srgbClr val="2E8B57"/>
          </a:solidFill>
          <a:ln w="12700">
            <a:solidFill>
              <a:srgbClr val="FFFFFF"/>
            </a:solidFill>
            <a:prstDash val="solid"/>
          </a:ln>
        </p:spPr>
      </p:sp>
      <p:sp>
        <p:nvSpPr>
          <p:cNvPr id="9" name="Text 5"/>
          <p:cNvSpPr txBox="1"/>
          <p:nvPr/>
        </p:nvSpPr>
        <p:spPr>
          <a:xfrm>
            <a:off x="3129684" y="74980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10" name="Text 6"/>
          <p:cNvSpPr txBox="1"/>
          <p:nvPr/>
        </p:nvSpPr>
        <p:spPr>
          <a:xfrm>
            <a:off x="2624629" y="4078224"/>
            <a:ext cx="1924511" cy="457200"/>
          </a:xfrm>
          <a:prstGeom prst="rect">
            <a:avLst/>
          </a:prstGeom>
          <a:noFill/>
          <a:ln/>
        </p:spPr>
        <p:txBody>
          <a:bodyPr wrap="square" lIns="0" tIns="0" rIns="0" bIns="0" rtlCol="0" anchor="t"/>
          <a:lstStyle/>
          <a:p>
            <a:pPr algn="ctr" indent="0" marL="0">
              <a:buNone/>
            </a:pPr>
            <a:r>
              <a:rPr lang="en-US" sz="1100" b="1" dirty="0">
                <a:solidFill>
                  <a:srgbClr val="011E41"/>
                </a:solidFill>
                <a:latin typeface="Arial" pitchFamily="34" charset="0"/>
                <a:ea typeface="Arial" pitchFamily="34" charset="-122"/>
                <a:cs typeface="Arial" pitchFamily="34" charset="-120"/>
              </a:rPr>
              <a:t>Gate In: plate, 3PL, DN and truck photos</a:t>
            </a:r>
            <a:endParaRPr lang="en-US" sz="1100" dirty="0"/>
          </a:p>
        </p:txBody>
      </p:sp>
      <p:pic>
        <p:nvPicPr>
          <p:cNvPr id="11" name="del-trips-en.png" descr="/tmp/claude-0/sd/phones/del-trips-en.png">    </p:cNvPr>
          <p:cNvPicPr>
            <a:picLocks noChangeAspect="1"/>
          </p:cNvPicPr>
          <p:nvPr/>
        </p:nvPicPr>
        <p:blipFill>
          <a:blip r:embed="rId3"/>
          <a:stretch>
            <a:fillRect/>
          </a:stretch>
        </p:blipFill>
        <p:spPr>
          <a:xfrm>
            <a:off x="4732020" y="896112"/>
            <a:ext cx="1650191" cy="3108960"/>
          </a:xfrm>
          <a:prstGeom prst="rect">
            <a:avLst/>
          </a:prstGeom>
        </p:spPr>
      </p:pic>
      <p:sp>
        <p:nvSpPr>
          <p:cNvPr id="12" name="Shape 7"/>
          <p:cNvSpPr/>
          <p:nvPr/>
        </p:nvSpPr>
        <p:spPr>
          <a:xfrm>
            <a:off x="5099916" y="749808"/>
            <a:ext cx="914400" cy="274320"/>
          </a:xfrm>
          <a:prstGeom prst="roundRect">
            <a:avLst>
              <a:gd name="adj" fmla="val 20000"/>
            </a:avLst>
          </a:prstGeom>
          <a:solidFill>
            <a:srgbClr val="2E8B57"/>
          </a:solidFill>
          <a:ln w="12700">
            <a:solidFill>
              <a:srgbClr val="FFFFFF"/>
            </a:solidFill>
            <a:prstDash val="solid"/>
          </a:ln>
        </p:spPr>
      </p:sp>
      <p:sp>
        <p:nvSpPr>
          <p:cNvPr id="13" name="Text 8"/>
          <p:cNvSpPr txBox="1"/>
          <p:nvPr/>
        </p:nvSpPr>
        <p:spPr>
          <a:xfrm>
            <a:off x="5099916" y="74980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14" name="Text 9"/>
          <p:cNvSpPr txBox="1"/>
          <p:nvPr/>
        </p:nvSpPr>
        <p:spPr>
          <a:xfrm>
            <a:off x="4594860" y="4078224"/>
            <a:ext cx="1924511" cy="457200"/>
          </a:xfrm>
          <a:prstGeom prst="rect">
            <a:avLst/>
          </a:prstGeom>
          <a:noFill/>
          <a:ln/>
        </p:spPr>
        <p:txBody>
          <a:bodyPr wrap="square" lIns="0" tIns="0" rIns="0" bIns="0" rtlCol="0" anchor="t"/>
          <a:lstStyle/>
          <a:p>
            <a:pPr algn="ctr" indent="0" marL="0">
              <a:buNone/>
            </a:pPr>
            <a:r>
              <a:rPr lang="en-US" sz="1100" b="1" dirty="0">
                <a:solidFill>
                  <a:srgbClr val="011E41"/>
                </a:solidFill>
                <a:latin typeface="Arial" pitchFamily="34" charset="0"/>
                <a:ea typeface="Arial" pitchFamily="34" charset="-122"/>
                <a:cs typeface="Arial" pitchFamily="34" charset="-120"/>
              </a:rPr>
              <a:t>Today's trips: every truck's status</a:t>
            </a:r>
            <a:endParaRPr lang="en-US" sz="1100" dirty="0"/>
          </a:p>
        </p:txBody>
      </p:sp>
      <p:pic>
        <p:nvPicPr>
          <p:cNvPr id="15" name="del-trip-en.png" descr="/tmp/claude-0/sd/phones/del-trip-en.png">    </p:cNvPr>
          <p:cNvPicPr>
            <a:picLocks noChangeAspect="1"/>
          </p:cNvPicPr>
          <p:nvPr/>
        </p:nvPicPr>
        <p:blipFill>
          <a:blip r:embed="rId4"/>
          <a:stretch>
            <a:fillRect/>
          </a:stretch>
        </p:blipFill>
        <p:spPr>
          <a:xfrm>
            <a:off x="6702251" y="896112"/>
            <a:ext cx="1650191" cy="3108960"/>
          </a:xfrm>
          <a:prstGeom prst="rect">
            <a:avLst/>
          </a:prstGeom>
        </p:spPr>
      </p:pic>
      <p:sp>
        <p:nvSpPr>
          <p:cNvPr id="16" name="Shape 10"/>
          <p:cNvSpPr/>
          <p:nvPr/>
        </p:nvSpPr>
        <p:spPr>
          <a:xfrm>
            <a:off x="7070147" y="749808"/>
            <a:ext cx="914400" cy="274320"/>
          </a:xfrm>
          <a:prstGeom prst="roundRect">
            <a:avLst>
              <a:gd name="adj" fmla="val 20000"/>
            </a:avLst>
          </a:prstGeom>
          <a:solidFill>
            <a:srgbClr val="2E8B57"/>
          </a:solidFill>
          <a:ln w="12700">
            <a:solidFill>
              <a:srgbClr val="FFFFFF"/>
            </a:solidFill>
            <a:prstDash val="solid"/>
          </a:ln>
        </p:spPr>
      </p:sp>
      <p:sp>
        <p:nvSpPr>
          <p:cNvPr id="17" name="Text 11"/>
          <p:cNvSpPr txBox="1"/>
          <p:nvPr/>
        </p:nvSpPr>
        <p:spPr>
          <a:xfrm>
            <a:off x="7070147" y="749808"/>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18" name="Text 12"/>
          <p:cNvSpPr txBox="1"/>
          <p:nvPr/>
        </p:nvSpPr>
        <p:spPr>
          <a:xfrm>
            <a:off x="6565091" y="4078224"/>
            <a:ext cx="1924511" cy="457200"/>
          </a:xfrm>
          <a:prstGeom prst="rect">
            <a:avLst/>
          </a:prstGeom>
          <a:noFill/>
          <a:ln/>
        </p:spPr>
        <p:txBody>
          <a:bodyPr wrap="square" lIns="0" tIns="0" rIns="0" bIns="0" rtlCol="0" anchor="t"/>
          <a:lstStyle/>
          <a:p>
            <a:pPr algn="ctr" indent="0" marL="0">
              <a:buNone/>
            </a:pPr>
            <a:r>
              <a:rPr lang="en-US" sz="1100" b="1" dirty="0">
                <a:solidFill>
                  <a:srgbClr val="011E41"/>
                </a:solidFill>
                <a:latin typeface="Arial" pitchFamily="34" charset="0"/>
                <a:ea typeface="Arial" pitchFamily="34" charset="-122"/>
                <a:cs typeface="Arial" pitchFamily="34" charset="-120"/>
              </a:rPr>
              <a:t>Trip timeline: time spent at each step</a:t>
            </a:r>
            <a:endParaRPr lang="en-US" sz="1100" dirty="0"/>
          </a:p>
        </p:txBody>
      </p:sp>
      <p:sp>
        <p:nvSpPr>
          <p:cNvPr id="19" name="Text 13"/>
          <p:cNvSpPr txBox="1"/>
          <p:nvPr/>
        </p:nvSpPr>
        <p:spPr>
          <a:xfrm>
            <a:off x="365760" y="4599432"/>
            <a:ext cx="7315200" cy="201168"/>
          </a:xfrm>
          <a:prstGeom prst="rect">
            <a:avLst/>
          </a:prstGeom>
          <a:noFill/>
          <a:ln/>
        </p:spPr>
        <p:txBody>
          <a:bodyPr wrap="square" lIns="0" tIns="0" rIns="0" bIns="0" rtlCol="0" anchor="ctr"/>
          <a:lstStyle/>
          <a:p>
            <a:pPr indent="0" marL="0">
              <a:buNone/>
            </a:pPr>
            <a:r>
              <a:rPr lang="en-US" sz="950" i="1" dirty="0">
                <a:solidFill>
                  <a:srgbClr val="5B6577"/>
                </a:solidFill>
                <a:latin typeface="Arial" pitchFamily="34" charset="0"/>
                <a:ea typeface="Arial" pitchFamily="34" charset="-122"/>
                <a:cs typeface="Arial" pitchFamily="34" charset="-120"/>
              </a:rPr>
              <a:t>Built in-house in 2026, free to run on Google Sheets. Screens shown with sample data.</a:t>
            </a:r>
            <a:endParaRPr lang="en-US" sz="95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1.1 Regional DCs: 11 branches to 2 DCs</a:t>
            </a:r>
            <a:endParaRPr lang="en-US" sz="2000" dirty="0"/>
          </a:p>
        </p:txBody>
      </p:sp>
      <p:sp>
        <p:nvSpPr>
          <p:cNvPr id="3" name="Text 1"/>
          <p:cNvSpPr txBox="1"/>
          <p:nvPr/>
        </p:nvSpPr>
        <p:spPr>
          <a:xfrm>
            <a:off x="365760" y="822960"/>
            <a:ext cx="2926080" cy="27432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Why</a:t>
            </a:r>
            <a:endParaRPr lang="en-US" sz="1400" dirty="0"/>
          </a:p>
        </p:txBody>
      </p:sp>
      <p:sp>
        <p:nvSpPr>
          <p:cNvPr id="4" name="Text 2"/>
          <p:cNvSpPr txBox="1"/>
          <p:nvPr/>
        </p:nvSpPr>
        <p:spPr>
          <a:xfrm>
            <a:off x="365760" y="1097280"/>
            <a:ext cx="3017520" cy="15544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A1A1A"/>
                </a:solidFill>
                <a:latin typeface="Arial" pitchFamily="34" charset="0"/>
                <a:ea typeface="Arial" pitchFamily="34" charset="-122"/>
                <a:cs typeface="Arial" pitchFamily="34" charset="-120"/>
              </a:rPr>
              <a:t>Serving 11 branches one by one from the factory means many small, long trips</a:t>
            </a:r>
            <a:endParaRPr lang="en-US" sz="1200" dirty="0"/>
          </a:p>
          <a:p>
            <a:pPr marL="342900" indent="-342900">
              <a:spcAft>
                <a:spcPts val="600"/>
              </a:spcAft>
              <a:buSzPct val="100000"/>
              <a:buChar char="•"/>
            </a:pPr>
            <a:r>
              <a:rPr lang="en-US" sz="1200" dirty="0">
                <a:solidFill>
                  <a:srgbClr val="1A1A1A"/>
                </a:solidFill>
                <a:latin typeface="Arial" pitchFamily="34" charset="0"/>
                <a:ea typeface="Arial" pitchFamily="34" charset="-122"/>
                <a:cs typeface="Arial" pitchFamily="34" charset="-120"/>
              </a:rPr>
              <a:t>Two regional DCs next to the factory DC put stock closer to customers</a:t>
            </a:r>
            <a:endParaRPr lang="en-US" sz="1200" dirty="0"/>
          </a:p>
          <a:p>
            <a:pPr marL="342900" indent="-342900">
              <a:spcAft>
                <a:spcPts val="600"/>
              </a:spcAft>
              <a:buSzPct val="100000"/>
              <a:buChar char="•"/>
            </a:pPr>
            <a:r>
              <a:rPr lang="en-US" sz="1200" dirty="0">
                <a:solidFill>
                  <a:srgbClr val="1A1A1A"/>
                </a:solidFill>
                <a:latin typeface="Arial" pitchFamily="34" charset="0"/>
                <a:ea typeface="Arial" pitchFamily="34" charset="-122"/>
                <a:cs typeface="Arial" pitchFamily="34" charset="-120"/>
              </a:rPr>
              <a:t>Shorter lead time for customers, fuller trucks for us</a:t>
            </a:r>
            <a:endParaRPr lang="en-US" sz="1200" dirty="0"/>
          </a:p>
        </p:txBody>
      </p:sp>
      <p:sp>
        <p:nvSpPr>
          <p:cNvPr id="5" name="Shape 3"/>
          <p:cNvSpPr/>
          <p:nvPr/>
        </p:nvSpPr>
        <p:spPr>
          <a:xfrm>
            <a:off x="365760" y="2880360"/>
            <a:ext cx="3017520" cy="1783080"/>
          </a:xfrm>
          <a:prstGeom prst="roundRect">
            <a:avLst>
              <a:gd name="adj" fmla="val 4103"/>
            </a:avLst>
          </a:prstGeom>
          <a:solidFill>
            <a:srgbClr val="011E41"/>
          </a:solidFill>
          <a:ln w="12700">
            <a:solidFill>
              <a:srgbClr val="011E41"/>
            </a:solidFill>
            <a:prstDash val="solid"/>
          </a:ln>
        </p:spPr>
      </p:sp>
      <p:sp>
        <p:nvSpPr>
          <p:cNvPr id="6" name="Text 4"/>
          <p:cNvSpPr txBox="1"/>
          <p:nvPr/>
        </p:nvSpPr>
        <p:spPr>
          <a:xfrm>
            <a:off x="548640" y="2971800"/>
            <a:ext cx="2651760" cy="594360"/>
          </a:xfrm>
          <a:prstGeom prst="rect">
            <a:avLst/>
          </a:prstGeom>
          <a:noFill/>
          <a:ln/>
        </p:spPr>
        <p:txBody>
          <a:bodyPr wrap="square" lIns="0" tIns="0" rIns="0" bIns="0" rtlCol="0" anchor="ctr"/>
          <a:lstStyle/>
          <a:p>
            <a:pPr indent="0" marL="0">
              <a:buNone/>
            </a:pPr>
            <a:r>
              <a:rPr lang="en-US" sz="3600" b="1" dirty="0">
                <a:solidFill>
                  <a:srgbClr val="E8A33D"/>
                </a:solidFill>
                <a:latin typeface="Arial" pitchFamily="34" charset="0"/>
                <a:ea typeface="Arial" pitchFamily="34" charset="-122"/>
                <a:cs typeface="Arial" pitchFamily="34" charset="-120"/>
              </a:rPr>
              <a:t>≥10%</a:t>
            </a:r>
            <a:endParaRPr lang="en-US" sz="3600" dirty="0"/>
          </a:p>
        </p:txBody>
      </p:sp>
      <p:sp>
        <p:nvSpPr>
          <p:cNvPr id="7" name="Text 5"/>
          <p:cNvSpPr txBox="1"/>
          <p:nvPr/>
        </p:nvSpPr>
        <p:spPr>
          <a:xfrm>
            <a:off x="548640" y="3566160"/>
            <a:ext cx="2697480" cy="86868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lower cost-to-serve per ton vs 2026, in the Finance-validated business case. Realised from 2028.</a:t>
            </a:r>
            <a:endParaRPr lang="en-US" sz="1150" dirty="0"/>
          </a:p>
        </p:txBody>
      </p:sp>
      <p:sp>
        <p:nvSpPr>
          <p:cNvPr id="8" name="Text 6"/>
          <p:cNvSpPr txBox="1"/>
          <p:nvPr/>
        </p:nvSpPr>
        <p:spPr>
          <a:xfrm>
            <a:off x="3657600" y="822960"/>
            <a:ext cx="5120640" cy="27432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2027 is study and readiness only. Execution in 2028.</a:t>
            </a:r>
            <a:endParaRPr lang="en-US" sz="1400" dirty="0"/>
          </a:p>
        </p:txBody>
      </p:sp>
      <p:sp>
        <p:nvSpPr>
          <p:cNvPr id="9" name="Shape 7"/>
          <p:cNvSpPr/>
          <p:nvPr/>
        </p:nvSpPr>
        <p:spPr>
          <a:xfrm>
            <a:off x="4069080" y="1325880"/>
            <a:ext cx="0" cy="3246120"/>
          </a:xfrm>
          <a:prstGeom prst="line">
            <a:avLst/>
          </a:prstGeom>
          <a:noFill/>
          <a:ln w="19050">
            <a:solidFill>
              <a:srgbClr val="9AA7BD"/>
            </a:solidFill>
            <a:prstDash val="solid"/>
          </a:ln>
        </p:spPr>
      </p:sp>
      <p:sp>
        <p:nvSpPr>
          <p:cNvPr id="10" name="Shape 8"/>
          <p:cNvSpPr/>
          <p:nvPr/>
        </p:nvSpPr>
        <p:spPr>
          <a:xfrm>
            <a:off x="3840480" y="1207008"/>
            <a:ext cx="457200" cy="457200"/>
          </a:xfrm>
          <a:prstGeom prst="ellipse">
            <a:avLst/>
          </a:prstGeom>
          <a:solidFill>
            <a:srgbClr val="BF9000"/>
          </a:solidFill>
          <a:ln w="19050">
            <a:solidFill>
              <a:srgbClr val="FFFFFF"/>
            </a:solidFill>
            <a:prstDash val="solid"/>
          </a:ln>
        </p:spPr>
      </p:sp>
      <p:sp>
        <p:nvSpPr>
          <p:cNvPr id="11" name="Text 9"/>
          <p:cNvSpPr txBox="1"/>
          <p:nvPr/>
        </p:nvSpPr>
        <p:spPr>
          <a:xfrm>
            <a:off x="3840480" y="1207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Feb</a:t>
            </a:r>
            <a:endParaRPr lang="en-US" sz="1000" dirty="0"/>
          </a:p>
        </p:txBody>
      </p:sp>
      <p:sp>
        <p:nvSpPr>
          <p:cNvPr id="12" name="Text 10"/>
          <p:cNvSpPr txBox="1"/>
          <p:nvPr/>
        </p:nvSpPr>
        <p:spPr>
          <a:xfrm>
            <a:off x="4480560" y="117043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Network study done</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volume by province, cost-to-serve per branch, customer lead time</a:t>
            </a:r>
            <a:endParaRPr lang="en-US" sz="1200" dirty="0"/>
          </a:p>
        </p:txBody>
      </p:sp>
      <p:sp>
        <p:nvSpPr>
          <p:cNvPr id="13" name="Shape 11"/>
          <p:cNvSpPr/>
          <p:nvPr/>
        </p:nvSpPr>
        <p:spPr>
          <a:xfrm>
            <a:off x="3840480" y="1755648"/>
            <a:ext cx="457200" cy="457200"/>
          </a:xfrm>
          <a:prstGeom prst="ellipse">
            <a:avLst/>
          </a:prstGeom>
          <a:solidFill>
            <a:srgbClr val="BF9000"/>
          </a:solidFill>
          <a:ln w="19050">
            <a:solidFill>
              <a:srgbClr val="FFFFFF"/>
            </a:solidFill>
            <a:prstDash val="solid"/>
          </a:ln>
        </p:spPr>
      </p:sp>
      <p:sp>
        <p:nvSpPr>
          <p:cNvPr id="14" name="Text 12"/>
          <p:cNvSpPr txBox="1"/>
          <p:nvPr/>
        </p:nvSpPr>
        <p:spPr>
          <a:xfrm>
            <a:off x="3840480" y="175564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May</a:t>
            </a:r>
            <a:endParaRPr lang="en-US" sz="1000" dirty="0"/>
          </a:p>
        </p:txBody>
      </p:sp>
      <p:sp>
        <p:nvSpPr>
          <p:cNvPr id="15" name="Text 13"/>
          <p:cNvSpPr txBox="1"/>
          <p:nvPr/>
        </p:nvSpPr>
        <p:spPr>
          <a:xfrm>
            <a:off x="4480560" y="171907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Decision gate</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go or no-go with management</a:t>
            </a:r>
            <a:endParaRPr lang="en-US" sz="1200" dirty="0"/>
          </a:p>
        </p:txBody>
      </p:sp>
      <p:sp>
        <p:nvSpPr>
          <p:cNvPr id="16" name="Shape 14"/>
          <p:cNvSpPr/>
          <p:nvPr/>
        </p:nvSpPr>
        <p:spPr>
          <a:xfrm>
            <a:off x="3840480" y="2304288"/>
            <a:ext cx="457200" cy="457200"/>
          </a:xfrm>
          <a:prstGeom prst="ellipse">
            <a:avLst/>
          </a:prstGeom>
          <a:solidFill>
            <a:srgbClr val="BF9000"/>
          </a:solidFill>
          <a:ln w="19050">
            <a:solidFill>
              <a:srgbClr val="FFFFFF"/>
            </a:solidFill>
            <a:prstDash val="solid"/>
          </a:ln>
        </p:spPr>
      </p:sp>
      <p:sp>
        <p:nvSpPr>
          <p:cNvPr id="17" name="Text 15"/>
          <p:cNvSpPr txBox="1"/>
          <p:nvPr/>
        </p:nvSpPr>
        <p:spPr>
          <a:xfrm>
            <a:off x="3840480" y="230428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Jun</a:t>
            </a:r>
            <a:endParaRPr lang="en-US" sz="1000" dirty="0"/>
          </a:p>
        </p:txBody>
      </p:sp>
      <p:sp>
        <p:nvSpPr>
          <p:cNvPr id="18" name="Text 16"/>
          <p:cNvSpPr txBox="1"/>
          <p:nvPr/>
        </p:nvSpPr>
        <p:spPr>
          <a:xfrm>
            <a:off x="4480560" y="226771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2 sites shortlisted</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and recommended</a:t>
            </a:r>
            <a:endParaRPr lang="en-US" sz="1200" dirty="0"/>
          </a:p>
        </p:txBody>
      </p:sp>
      <p:sp>
        <p:nvSpPr>
          <p:cNvPr id="19" name="Shape 17"/>
          <p:cNvSpPr/>
          <p:nvPr/>
        </p:nvSpPr>
        <p:spPr>
          <a:xfrm>
            <a:off x="3840480" y="2852928"/>
            <a:ext cx="457200" cy="457200"/>
          </a:xfrm>
          <a:prstGeom prst="ellipse">
            <a:avLst/>
          </a:prstGeom>
          <a:solidFill>
            <a:srgbClr val="BF9000"/>
          </a:solidFill>
          <a:ln w="19050">
            <a:solidFill>
              <a:srgbClr val="FFFFFF"/>
            </a:solidFill>
            <a:prstDash val="solid"/>
          </a:ln>
        </p:spPr>
      </p:sp>
      <p:sp>
        <p:nvSpPr>
          <p:cNvPr id="20" name="Text 18"/>
          <p:cNvSpPr txBox="1"/>
          <p:nvPr/>
        </p:nvSpPr>
        <p:spPr>
          <a:xfrm>
            <a:off x="3840480" y="285292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Jul</a:t>
            </a:r>
            <a:endParaRPr lang="en-US" sz="1000" dirty="0"/>
          </a:p>
        </p:txBody>
      </p:sp>
      <p:sp>
        <p:nvSpPr>
          <p:cNvPr id="21" name="Text 19"/>
          <p:cNvSpPr txBox="1"/>
          <p:nvPr/>
        </p:nvSpPr>
        <p:spPr>
          <a:xfrm>
            <a:off x="4480560" y="281635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Customer transition plan</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approved; Sales co-owns</a:t>
            </a:r>
            <a:endParaRPr lang="en-US" sz="1200" dirty="0"/>
          </a:p>
        </p:txBody>
      </p:sp>
      <p:sp>
        <p:nvSpPr>
          <p:cNvPr id="22" name="Shape 20"/>
          <p:cNvSpPr/>
          <p:nvPr/>
        </p:nvSpPr>
        <p:spPr>
          <a:xfrm>
            <a:off x="3840480" y="3401568"/>
            <a:ext cx="457200" cy="457200"/>
          </a:xfrm>
          <a:prstGeom prst="ellipse">
            <a:avLst/>
          </a:prstGeom>
          <a:solidFill>
            <a:srgbClr val="BF9000"/>
          </a:solidFill>
          <a:ln w="19050">
            <a:solidFill>
              <a:srgbClr val="FFFFFF"/>
            </a:solidFill>
            <a:prstDash val="solid"/>
          </a:ln>
        </p:spPr>
      </p:sp>
      <p:sp>
        <p:nvSpPr>
          <p:cNvPr id="23" name="Text 21"/>
          <p:cNvSpPr txBox="1"/>
          <p:nvPr/>
        </p:nvSpPr>
        <p:spPr>
          <a:xfrm>
            <a:off x="3840480" y="340156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Aug</a:t>
            </a:r>
            <a:endParaRPr lang="en-US" sz="1000" dirty="0"/>
          </a:p>
        </p:txBody>
      </p:sp>
      <p:sp>
        <p:nvSpPr>
          <p:cNvPr id="24" name="Text 22"/>
          <p:cNvSpPr txBox="1"/>
          <p:nvPr/>
        </p:nvSpPr>
        <p:spPr>
          <a:xfrm>
            <a:off x="4480560" y="336499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SAP readiness</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Regional DC 1 and 2 set up in SAP</a:t>
            </a:r>
            <a:endParaRPr lang="en-US" sz="1200" dirty="0"/>
          </a:p>
        </p:txBody>
      </p:sp>
      <p:sp>
        <p:nvSpPr>
          <p:cNvPr id="25" name="Shape 23"/>
          <p:cNvSpPr/>
          <p:nvPr/>
        </p:nvSpPr>
        <p:spPr>
          <a:xfrm>
            <a:off x="3840480" y="3950208"/>
            <a:ext cx="457200" cy="457200"/>
          </a:xfrm>
          <a:prstGeom prst="ellipse">
            <a:avLst/>
          </a:prstGeom>
          <a:solidFill>
            <a:srgbClr val="E8A33D"/>
          </a:solidFill>
          <a:ln w="19050">
            <a:solidFill>
              <a:srgbClr val="FFFFFF"/>
            </a:solidFill>
            <a:prstDash val="solid"/>
          </a:ln>
        </p:spPr>
      </p:sp>
      <p:sp>
        <p:nvSpPr>
          <p:cNvPr id="26" name="Text 24"/>
          <p:cNvSpPr txBox="1"/>
          <p:nvPr/>
        </p:nvSpPr>
        <p:spPr>
          <a:xfrm>
            <a:off x="3840480" y="3950208"/>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2028</a:t>
            </a:r>
            <a:endParaRPr lang="en-US" sz="900" dirty="0"/>
          </a:p>
        </p:txBody>
      </p:sp>
      <p:sp>
        <p:nvSpPr>
          <p:cNvPr id="27" name="Text 25"/>
          <p:cNvSpPr txBox="1"/>
          <p:nvPr/>
        </p:nvSpPr>
        <p:spPr>
          <a:xfrm>
            <a:off x="4480560" y="3913632"/>
            <a:ext cx="4297680" cy="512064"/>
          </a:xfrm>
          <a:prstGeom prst="rect">
            <a:avLst/>
          </a:prstGeom>
          <a:noFill/>
          <a:ln/>
        </p:spPr>
        <p:txBody>
          <a:bodyPr wrap="square" lIns="0" tIns="0" rIns="0" bIns="0" rtlCol="0" anchor="ctr"/>
          <a:lstStyle/>
          <a:p>
            <a:pPr indent="0" marL="0">
              <a:buNone/>
            </a:pPr>
            <a:r>
              <a:rPr lang="en-US" sz="1200" b="1" dirty="0">
                <a:solidFill>
                  <a:srgbClr val="1A1A1A"/>
                </a:solidFill>
                <a:latin typeface="Arial" pitchFamily="34" charset="0"/>
                <a:ea typeface="Arial" pitchFamily="34" charset="-122"/>
                <a:cs typeface="Arial" pitchFamily="34" charset="-120"/>
              </a:rPr>
              <a:t>Execution</a:t>
            </a:r>
            <a:endParaRPr lang="en-US" sz="1200" dirty="0"/>
          </a:p>
          <a:p>
            <a:pPr indent="0" marL="0">
              <a:buNone/>
            </a:pPr>
            <a:r>
              <a:rPr lang="en-US" sz="1050" dirty="0">
                <a:solidFill>
                  <a:srgbClr val="5B6577"/>
                </a:solidFill>
                <a:latin typeface="Arial" pitchFamily="34" charset="0"/>
                <a:ea typeface="Arial" pitchFamily="34" charset="-122"/>
                <a:cs typeface="Arial" pitchFamily="34" charset="-120"/>
              </a:rPr>
              <a:t>DCs open, customers move</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1.2 Fleet cost-to-serve: four levers</a:t>
            </a:r>
            <a:endParaRPr lang="en-US" sz="2000" dirty="0"/>
          </a:p>
        </p:txBody>
      </p:sp>
      <p:sp>
        <p:nvSpPr>
          <p:cNvPr id="3" name="Shape 1"/>
          <p:cNvSpPr/>
          <p:nvPr/>
        </p:nvSpPr>
        <p:spPr>
          <a:xfrm>
            <a:off x="365760" y="822960"/>
            <a:ext cx="2560320" cy="1783080"/>
          </a:xfrm>
          <a:prstGeom prst="roundRect">
            <a:avLst>
              <a:gd name="adj" fmla="val 4103"/>
            </a:avLst>
          </a:prstGeom>
          <a:solidFill>
            <a:srgbClr val="FFFFFF"/>
          </a:solidFill>
          <a:ln w="9525">
            <a:solidFill>
              <a:srgbClr val="C9D2E0"/>
            </a:solidFill>
            <a:prstDash val="solid"/>
          </a:ln>
        </p:spPr>
      </p:sp>
      <p:sp>
        <p:nvSpPr>
          <p:cNvPr id="4" name="Shape 2"/>
          <p:cNvSpPr/>
          <p:nvPr/>
        </p:nvSpPr>
        <p:spPr>
          <a:xfrm>
            <a:off x="530352" y="978408"/>
            <a:ext cx="457200" cy="457200"/>
          </a:xfrm>
          <a:prstGeom prst="ellipse">
            <a:avLst/>
          </a:prstGeom>
          <a:solidFill>
            <a:srgbClr val="BF9000"/>
          </a:solidFill>
          <a:ln w="12700">
            <a:solidFill>
              <a:srgbClr val="BF9000"/>
            </a:solidFill>
            <a:prstDash val="solid"/>
          </a:ln>
        </p:spPr>
      </p:sp>
      <p:pic>
        <p:nvPicPr>
          <p:cNvPr id="5" name="Image 0" descr="preencoded.png">    </p:cNvPr>
          <p:cNvPicPr>
            <a:picLocks noChangeAspect="1"/>
          </p:cNvPicPr>
          <p:nvPr/>
        </p:nvPicPr>
        <p:blipFill>
          <a:blip r:embed="rId1"/>
          <a:stretch>
            <a:fillRect/>
          </a:stretch>
        </p:blipFill>
        <p:spPr>
          <a:xfrm>
            <a:off x="640080" y="1088136"/>
            <a:ext cx="237744" cy="237744"/>
          </a:xfrm>
          <a:prstGeom prst="rect">
            <a:avLst/>
          </a:prstGeom>
        </p:spPr>
      </p:pic>
      <p:sp>
        <p:nvSpPr>
          <p:cNvPr id="6" name="Text 3"/>
          <p:cNvSpPr txBox="1"/>
          <p:nvPr/>
        </p:nvSpPr>
        <p:spPr>
          <a:xfrm>
            <a:off x="1097280" y="978408"/>
            <a:ext cx="1737360" cy="45720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Control fuel</a:t>
            </a:r>
            <a:endParaRPr lang="en-US" sz="1400" dirty="0"/>
          </a:p>
        </p:txBody>
      </p:sp>
      <p:sp>
        <p:nvSpPr>
          <p:cNvPr id="7" name="Text 4"/>
          <p:cNvSpPr txBox="1"/>
          <p:nvPr/>
        </p:nvSpPr>
        <p:spPr>
          <a:xfrm>
            <a:off x="530352" y="1536192"/>
            <a:ext cx="2286000" cy="10058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Tender the fuel supply. Fleet card per vehicle with litre limits. Monthly check of card litres against GPS km.</a:t>
            </a:r>
            <a:endParaRPr lang="en-US" sz="1100" dirty="0"/>
          </a:p>
        </p:txBody>
      </p:sp>
      <p:sp>
        <p:nvSpPr>
          <p:cNvPr id="8" name="Shape 5"/>
          <p:cNvSpPr/>
          <p:nvPr/>
        </p:nvSpPr>
        <p:spPr>
          <a:xfrm>
            <a:off x="3108960" y="822960"/>
            <a:ext cx="2560320" cy="1783080"/>
          </a:xfrm>
          <a:prstGeom prst="roundRect">
            <a:avLst>
              <a:gd name="adj" fmla="val 4103"/>
            </a:avLst>
          </a:prstGeom>
          <a:solidFill>
            <a:srgbClr val="FFFFFF"/>
          </a:solidFill>
          <a:ln w="9525">
            <a:solidFill>
              <a:srgbClr val="C9D2E0"/>
            </a:solidFill>
            <a:prstDash val="solid"/>
          </a:ln>
        </p:spPr>
      </p:sp>
      <p:sp>
        <p:nvSpPr>
          <p:cNvPr id="9" name="Shape 6"/>
          <p:cNvSpPr/>
          <p:nvPr/>
        </p:nvSpPr>
        <p:spPr>
          <a:xfrm>
            <a:off x="3273552" y="978408"/>
            <a:ext cx="457200" cy="457200"/>
          </a:xfrm>
          <a:prstGeom prst="ellipse">
            <a:avLst/>
          </a:prstGeom>
          <a:solidFill>
            <a:srgbClr val="BF9000"/>
          </a:solidFill>
          <a:ln w="12700">
            <a:solidFill>
              <a:srgbClr val="BF9000"/>
            </a:solidFill>
            <a:prstDash val="solid"/>
          </a:ln>
        </p:spPr>
      </p:sp>
      <p:pic>
        <p:nvPicPr>
          <p:cNvPr id="10" name="Image 1" descr="preencoded.png">    </p:cNvPr>
          <p:cNvPicPr>
            <a:picLocks noChangeAspect="1"/>
          </p:cNvPicPr>
          <p:nvPr/>
        </p:nvPicPr>
        <p:blipFill>
          <a:blip r:embed="rId2"/>
          <a:stretch>
            <a:fillRect/>
          </a:stretch>
        </p:blipFill>
        <p:spPr>
          <a:xfrm>
            <a:off x="3383280" y="1088136"/>
            <a:ext cx="237744" cy="237744"/>
          </a:xfrm>
          <a:prstGeom prst="rect">
            <a:avLst/>
          </a:prstGeom>
        </p:spPr>
      </p:pic>
      <p:sp>
        <p:nvSpPr>
          <p:cNvPr id="11" name="Text 7"/>
          <p:cNvSpPr txBox="1"/>
          <p:nvPr/>
        </p:nvSpPr>
        <p:spPr>
          <a:xfrm>
            <a:off x="3840480" y="978408"/>
            <a:ext cx="1737360" cy="45720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Pay per km</a:t>
            </a:r>
            <a:endParaRPr lang="en-US" sz="1400" dirty="0"/>
          </a:p>
        </p:txBody>
      </p:sp>
      <p:sp>
        <p:nvSpPr>
          <p:cNvPr id="12" name="Text 8"/>
          <p:cNvSpPr txBox="1"/>
          <p:nvPr/>
        </p:nvSpPr>
        <p:spPr>
          <a:xfrm>
            <a:off x="3273552" y="1536192"/>
            <a:ext cx="2286000" cy="10058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Cost-per-km contract with an uptime SLA. Term and fleet size adjustable, signed after the own-fleet vs 3PL decision.</a:t>
            </a:r>
            <a:endParaRPr lang="en-US" sz="1100" dirty="0"/>
          </a:p>
        </p:txBody>
      </p:sp>
      <p:sp>
        <p:nvSpPr>
          <p:cNvPr id="13" name="Shape 9"/>
          <p:cNvSpPr/>
          <p:nvPr/>
        </p:nvSpPr>
        <p:spPr>
          <a:xfrm>
            <a:off x="365760" y="2743200"/>
            <a:ext cx="2560320" cy="1783080"/>
          </a:xfrm>
          <a:prstGeom prst="roundRect">
            <a:avLst>
              <a:gd name="adj" fmla="val 4103"/>
            </a:avLst>
          </a:prstGeom>
          <a:solidFill>
            <a:srgbClr val="FFFFFF"/>
          </a:solidFill>
          <a:ln w="9525">
            <a:solidFill>
              <a:srgbClr val="C9D2E0"/>
            </a:solidFill>
            <a:prstDash val="solid"/>
          </a:ln>
        </p:spPr>
      </p:sp>
      <p:sp>
        <p:nvSpPr>
          <p:cNvPr id="14" name="Shape 10"/>
          <p:cNvSpPr/>
          <p:nvPr/>
        </p:nvSpPr>
        <p:spPr>
          <a:xfrm>
            <a:off x="530352" y="2898648"/>
            <a:ext cx="457200" cy="457200"/>
          </a:xfrm>
          <a:prstGeom prst="ellipse">
            <a:avLst/>
          </a:prstGeom>
          <a:solidFill>
            <a:srgbClr val="BF9000"/>
          </a:solidFill>
          <a:ln w="12700">
            <a:solidFill>
              <a:srgbClr val="BF9000"/>
            </a:solidFill>
            <a:prstDash val="solid"/>
          </a:ln>
        </p:spPr>
      </p:sp>
      <p:pic>
        <p:nvPicPr>
          <p:cNvPr id="15" name="Image 2" descr="preencoded.png">    </p:cNvPr>
          <p:cNvPicPr>
            <a:picLocks noChangeAspect="1"/>
          </p:cNvPicPr>
          <p:nvPr/>
        </p:nvPicPr>
        <p:blipFill>
          <a:blip r:embed="rId3"/>
          <a:stretch>
            <a:fillRect/>
          </a:stretch>
        </p:blipFill>
        <p:spPr>
          <a:xfrm>
            <a:off x="640080" y="3008376"/>
            <a:ext cx="237744" cy="237744"/>
          </a:xfrm>
          <a:prstGeom prst="rect">
            <a:avLst/>
          </a:prstGeom>
        </p:spPr>
      </p:pic>
      <p:sp>
        <p:nvSpPr>
          <p:cNvPr id="16" name="Text 11"/>
          <p:cNvSpPr txBox="1"/>
          <p:nvPr/>
        </p:nvSpPr>
        <p:spPr>
          <a:xfrm>
            <a:off x="1097280" y="2898648"/>
            <a:ext cx="1737360" cy="45720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Right truck per lane</a:t>
            </a:r>
            <a:endParaRPr lang="en-US" sz="1400" dirty="0"/>
          </a:p>
        </p:txBody>
      </p:sp>
      <p:sp>
        <p:nvSpPr>
          <p:cNvPr id="17" name="Text 12"/>
          <p:cNvSpPr txBox="1"/>
          <p:nvPr/>
        </p:nvSpPr>
        <p:spPr>
          <a:xfrm>
            <a:off x="530352" y="3456432"/>
            <a:ext cx="2286000" cy="10058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Cost per ton-km by route and vehicle. Lane-by-lane review: own fleet or 3PL, whichever is cheaper.</a:t>
            </a:r>
            <a:endParaRPr lang="en-US" sz="1100" dirty="0"/>
          </a:p>
        </p:txBody>
      </p:sp>
      <p:sp>
        <p:nvSpPr>
          <p:cNvPr id="18" name="Shape 13"/>
          <p:cNvSpPr/>
          <p:nvPr/>
        </p:nvSpPr>
        <p:spPr>
          <a:xfrm>
            <a:off x="3108960" y="2743200"/>
            <a:ext cx="2560320" cy="1783080"/>
          </a:xfrm>
          <a:prstGeom prst="roundRect">
            <a:avLst>
              <a:gd name="adj" fmla="val 4103"/>
            </a:avLst>
          </a:prstGeom>
          <a:solidFill>
            <a:srgbClr val="FFFFFF"/>
          </a:solidFill>
          <a:ln w="9525">
            <a:solidFill>
              <a:srgbClr val="C9D2E0"/>
            </a:solidFill>
            <a:prstDash val="solid"/>
          </a:ln>
        </p:spPr>
      </p:sp>
      <p:sp>
        <p:nvSpPr>
          <p:cNvPr id="19" name="Shape 14"/>
          <p:cNvSpPr/>
          <p:nvPr/>
        </p:nvSpPr>
        <p:spPr>
          <a:xfrm>
            <a:off x="3273552" y="2898648"/>
            <a:ext cx="457200" cy="457200"/>
          </a:xfrm>
          <a:prstGeom prst="ellipse">
            <a:avLst/>
          </a:prstGeom>
          <a:solidFill>
            <a:srgbClr val="BF9000"/>
          </a:solidFill>
          <a:ln w="12700">
            <a:solidFill>
              <a:srgbClr val="BF9000"/>
            </a:solidFill>
            <a:prstDash val="solid"/>
          </a:ln>
        </p:spPr>
      </p:sp>
      <p:pic>
        <p:nvPicPr>
          <p:cNvPr id="20" name="Image 3" descr="preencoded.png">    </p:cNvPr>
          <p:cNvPicPr>
            <a:picLocks noChangeAspect="1"/>
          </p:cNvPicPr>
          <p:nvPr/>
        </p:nvPicPr>
        <p:blipFill>
          <a:blip r:embed="rId4"/>
          <a:stretch>
            <a:fillRect/>
          </a:stretch>
        </p:blipFill>
        <p:spPr>
          <a:xfrm>
            <a:off x="3383280" y="3008376"/>
            <a:ext cx="237744" cy="237744"/>
          </a:xfrm>
          <a:prstGeom prst="rect">
            <a:avLst/>
          </a:prstGeom>
        </p:spPr>
      </p:pic>
      <p:sp>
        <p:nvSpPr>
          <p:cNvPr id="21" name="Text 15"/>
          <p:cNvSpPr txBox="1"/>
          <p:nvPr/>
        </p:nvSpPr>
        <p:spPr>
          <a:xfrm>
            <a:off x="3840480" y="2898648"/>
            <a:ext cx="1737360" cy="45720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Manage 3PL</a:t>
            </a:r>
            <a:endParaRPr lang="en-US" sz="1400" dirty="0"/>
          </a:p>
        </p:txBody>
      </p:sp>
      <p:sp>
        <p:nvSpPr>
          <p:cNvPr id="22" name="Text 16"/>
          <p:cNvSpPr txBox="1"/>
          <p:nvPr/>
        </p:nvSpPr>
        <p:spPr>
          <a:xfrm>
            <a:off x="3273552" y="3456432"/>
            <a:ext cx="2286000" cy="1005840"/>
          </a:xfrm>
          <a:prstGeom prst="rect">
            <a:avLst/>
          </a:prstGeom>
          <a:noFill/>
          <a:ln/>
        </p:spPr>
        <p:txBody>
          <a:bodyPr wrap="square" lIns="0" tIns="0" rIns="0" bIns="0" rtlCol="0" anchor="t"/>
          <a:lstStyle/>
          <a:p>
            <a:pPr indent="0" marL="0">
              <a:buNone/>
            </a:pPr>
            <a:r>
              <a:rPr lang="en-US" sz="1100" dirty="0">
                <a:solidFill>
                  <a:srgbClr val="1A1A1A"/>
                </a:solidFill>
                <a:latin typeface="Arial" pitchFamily="34" charset="0"/>
                <a:ea typeface="Arial" pitchFamily="34" charset="-122"/>
                <a:cs typeface="Arial" pitchFamily="34" charset="-120"/>
              </a:rPr>
              <a:t>Re-tender 3PL on the cost-per-ton-km baseline. Monthly 3PL scorecard: cost, on-time, damage, customer rating.</a:t>
            </a:r>
            <a:endParaRPr lang="en-US" sz="1100" dirty="0"/>
          </a:p>
        </p:txBody>
      </p:sp>
      <p:sp>
        <p:nvSpPr>
          <p:cNvPr id="23" name="Shape 17"/>
          <p:cNvSpPr/>
          <p:nvPr/>
        </p:nvSpPr>
        <p:spPr>
          <a:xfrm>
            <a:off x="5852160" y="822960"/>
            <a:ext cx="2926080" cy="3703320"/>
          </a:xfrm>
          <a:prstGeom prst="roundRect">
            <a:avLst>
              <a:gd name="adj" fmla="val 2500"/>
            </a:avLst>
          </a:prstGeom>
          <a:solidFill>
            <a:srgbClr val="011E41"/>
          </a:solidFill>
          <a:ln w="12700">
            <a:solidFill>
              <a:srgbClr val="011E41"/>
            </a:solidFill>
            <a:prstDash val="solid"/>
          </a:ln>
        </p:spPr>
      </p:sp>
      <p:sp>
        <p:nvSpPr>
          <p:cNvPr id="24" name="Text 18"/>
          <p:cNvSpPr txBox="1"/>
          <p:nvPr/>
        </p:nvSpPr>
        <p:spPr>
          <a:xfrm>
            <a:off x="6035040" y="960120"/>
            <a:ext cx="2560320" cy="640080"/>
          </a:xfrm>
          <a:prstGeom prst="rect">
            <a:avLst/>
          </a:prstGeom>
          <a:noFill/>
          <a:ln/>
        </p:spPr>
        <p:txBody>
          <a:bodyPr wrap="square" lIns="0" tIns="0" rIns="0" bIns="0" rtlCol="0" anchor="ctr"/>
          <a:lstStyle/>
          <a:p>
            <a:pPr indent="0" marL="0">
              <a:buNone/>
            </a:pPr>
            <a:r>
              <a:rPr lang="en-US" sz="4000" b="1" dirty="0">
                <a:solidFill>
                  <a:srgbClr val="E8A33D"/>
                </a:solidFill>
                <a:latin typeface="Arial" pitchFamily="34" charset="0"/>
                <a:ea typeface="Arial" pitchFamily="34" charset="-122"/>
                <a:cs typeface="Arial" pitchFamily="34" charset="-120"/>
              </a:rPr>
              <a:t>−5%</a:t>
            </a:r>
            <a:endParaRPr lang="en-US" sz="4000" dirty="0"/>
          </a:p>
        </p:txBody>
      </p:sp>
      <p:sp>
        <p:nvSpPr>
          <p:cNvPr id="25" name="Text 19"/>
          <p:cNvSpPr txBox="1"/>
          <p:nvPr/>
        </p:nvSpPr>
        <p:spPr>
          <a:xfrm>
            <a:off x="6035040" y="1645920"/>
            <a:ext cx="2606040" cy="54864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outbound transport cost per ton-km, Apr–Aug 2027 vs 2026</a:t>
            </a:r>
            <a:endParaRPr lang="en-US" sz="1200" dirty="0"/>
          </a:p>
        </p:txBody>
      </p:sp>
      <p:sp>
        <p:nvSpPr>
          <p:cNvPr id="26" name="Text 20"/>
          <p:cNvSpPr txBox="1"/>
          <p:nvPr/>
        </p:nvSpPr>
        <p:spPr>
          <a:xfrm>
            <a:off x="6035040" y="2377440"/>
            <a:ext cx="2560320" cy="274320"/>
          </a:xfrm>
          <a:prstGeom prst="rect">
            <a:avLst/>
          </a:prstGeom>
          <a:noFill/>
          <a:ln/>
        </p:spPr>
        <p:txBody>
          <a:bodyPr wrap="square" lIns="0" tIns="0" rIns="0" bIns="0" rtlCol="0" anchor="ctr"/>
          <a:lstStyle/>
          <a:p>
            <a:pPr indent="0" marL="0">
              <a:buNone/>
            </a:pPr>
            <a:r>
              <a:rPr lang="en-US" sz="1300" b="1" dirty="0">
                <a:solidFill>
                  <a:srgbClr val="E8A33D"/>
                </a:solidFill>
                <a:latin typeface="Arial" pitchFamily="34" charset="0"/>
                <a:ea typeface="Arial" pitchFamily="34" charset="-122"/>
                <a:cs typeface="Arial" pitchFamily="34" charset="-120"/>
              </a:rPr>
              <a:t>How we measure</a:t>
            </a:r>
            <a:endParaRPr lang="en-US" sz="1300" dirty="0"/>
          </a:p>
        </p:txBody>
      </p:sp>
      <p:sp>
        <p:nvSpPr>
          <p:cNvPr id="27" name="Text 21"/>
          <p:cNvSpPr txBox="1"/>
          <p:nvPr/>
        </p:nvSpPr>
        <p:spPr>
          <a:xfrm>
            <a:off x="6035040" y="2670048"/>
            <a:ext cx="2606040" cy="731520"/>
          </a:xfrm>
          <a:prstGeom prst="rect">
            <a:avLst/>
          </a:prstGeom>
          <a:noFill/>
          <a:ln/>
        </p:spPr>
        <p:txBody>
          <a:bodyPr wrap="square" lIns="0" tIns="0" rIns="0" bIns="0" rtlCol="0" anchor="t"/>
          <a:lstStyle/>
          <a:p>
            <a:pPr indent="0" marL="0">
              <a:buNone/>
            </a:pPr>
            <a:r>
              <a:rPr lang="en-US" sz="1150" dirty="0">
                <a:solidFill>
                  <a:srgbClr val="FFFFFF"/>
                </a:solidFill>
                <a:latin typeface="Arial" pitchFamily="34" charset="0"/>
                <a:ea typeface="Arial" pitchFamily="34" charset="-122"/>
                <a:cs typeface="Arial" pitchFamily="34" charset="-120"/>
              </a:rPr>
              <a:t>Cost per ton-km = total outbound transport cost ÷ (tons delivered × km driven)</a:t>
            </a:r>
            <a:endParaRPr lang="en-US" sz="1150" dirty="0"/>
          </a:p>
        </p:txBody>
      </p:sp>
      <p:sp>
        <p:nvSpPr>
          <p:cNvPr id="28" name="Text 22"/>
          <p:cNvSpPr txBox="1"/>
          <p:nvPr/>
        </p:nvSpPr>
        <p:spPr>
          <a:xfrm>
            <a:off x="6035040" y="3474720"/>
            <a:ext cx="2606040" cy="822960"/>
          </a:xfrm>
          <a:prstGeom prst="rect">
            <a:avLst/>
          </a:prstGeom>
          <a:noFill/>
          <a:ln/>
        </p:spPr>
        <p:txBody>
          <a:bodyPr wrap="square" lIns="0" tIns="0" rIns="0" bIns="0" rtlCol="0" anchor="t"/>
          <a:lstStyle/>
          <a:p>
            <a:pPr indent="0" marL="0">
              <a:buNone/>
            </a:pPr>
            <a:r>
              <a:rPr lang="en-US" sz="1100" i="1" dirty="0">
                <a:solidFill>
                  <a:srgbClr val="B8C4DA"/>
                </a:solidFill>
                <a:latin typeface="Arial" pitchFamily="34" charset="0"/>
                <a:ea typeface="Arial" pitchFamily="34" charset="-122"/>
                <a:cs typeface="Arial" pitchFamily="34" charset="-120"/>
              </a:rPr>
              <a:t>Data comes from the Fuel app, Delivery Journey trips (tons and km) and Finance cost.</a:t>
            </a:r>
            <a:endParaRPr lang="en-US" sz="11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600" b="1" dirty="0">
                <a:solidFill>
                  <a:srgbClr val="F2F2F2"/>
                </a:solidFill>
                <a:latin typeface="Arial" pitchFamily="34" charset="0"/>
                <a:ea typeface="Arial" pitchFamily="34" charset="-122"/>
                <a:cs typeface="Arial" pitchFamily="34" charset="-120"/>
              </a:rPr>
              <a:t>Why fuel control comes first</a:t>
            </a:r>
            <a:endParaRPr lang="en-US" sz="2600" dirty="0"/>
          </a:p>
        </p:txBody>
      </p:sp>
      <p:sp>
        <p:nvSpPr>
          <p:cNvPr id="3" name="Text 1"/>
          <p:cNvSpPr txBox="1"/>
          <p:nvPr/>
        </p:nvSpPr>
        <p:spPr>
          <a:xfrm>
            <a:off x="457200" y="868680"/>
            <a:ext cx="8229600" cy="274320"/>
          </a:xfrm>
          <a:prstGeom prst="rect">
            <a:avLst/>
          </a:prstGeom>
          <a:noFill/>
          <a:ln/>
        </p:spPr>
        <p:txBody>
          <a:bodyPr wrap="square" lIns="0" tIns="0" rIns="0" bIns="0" rtlCol="0" anchor="ctr"/>
          <a:lstStyle/>
          <a:p>
            <a:pPr indent="0" marL="0">
              <a:buNone/>
            </a:pPr>
            <a:r>
              <a:rPr lang="en-US" sz="1300" dirty="0">
                <a:solidFill>
                  <a:srgbClr val="B8C4DA"/>
                </a:solidFill>
                <a:latin typeface="Arial" pitchFamily="34" charset="0"/>
                <a:ea typeface="Arial" pitchFamily="34" charset="-122"/>
                <a:cs typeface="Arial" pitchFamily="34" charset="-120"/>
              </a:rPr>
              <a:t>What the first weeks of the Fuel Refill app already show (26 Sep – 8 Oct 2026)</a:t>
            </a:r>
            <a:endParaRPr lang="en-US" sz="1300" dirty="0"/>
          </a:p>
        </p:txBody>
      </p:sp>
      <p:sp>
        <p:nvSpPr>
          <p:cNvPr id="4" name="Shape 2"/>
          <p:cNvSpPr/>
          <p:nvPr/>
        </p:nvSpPr>
        <p:spPr>
          <a:xfrm>
            <a:off x="457200" y="1325880"/>
            <a:ext cx="2606040" cy="2377440"/>
          </a:xfrm>
          <a:prstGeom prst="roundRect">
            <a:avLst>
              <a:gd name="adj" fmla="val 3846"/>
            </a:avLst>
          </a:prstGeom>
          <a:solidFill>
            <a:srgbClr val="14305C"/>
          </a:solidFill>
          <a:ln w="12700">
            <a:solidFill>
              <a:srgbClr val="14305C"/>
            </a:solidFill>
            <a:prstDash val="solid"/>
          </a:ln>
        </p:spPr>
      </p:sp>
      <p:sp>
        <p:nvSpPr>
          <p:cNvPr id="5" name="Text 3"/>
          <p:cNvSpPr txBox="1"/>
          <p:nvPr/>
        </p:nvSpPr>
        <p:spPr>
          <a:xfrm>
            <a:off x="658368" y="1481328"/>
            <a:ext cx="2240280" cy="594360"/>
          </a:xfrm>
          <a:prstGeom prst="rect">
            <a:avLst/>
          </a:prstGeom>
          <a:noFill/>
          <a:ln/>
        </p:spPr>
        <p:txBody>
          <a:bodyPr wrap="square" lIns="0" tIns="0" rIns="0" bIns="0" rtlCol="0" anchor="ctr"/>
          <a:lstStyle/>
          <a:p>
            <a:pPr indent="0" marL="0">
              <a:buNone/>
            </a:pPr>
            <a:r>
              <a:rPr lang="en-US" sz="3000" b="1" dirty="0">
                <a:solidFill>
                  <a:srgbClr val="E8A33D"/>
                </a:solidFill>
                <a:latin typeface="Arial" pitchFamily="34" charset="0"/>
                <a:ea typeface="Arial" pitchFamily="34" charset="-122"/>
                <a:cs typeface="Arial" pitchFamily="34" charset="-120"/>
              </a:rPr>
              <a:t>1 in 6</a:t>
            </a:r>
            <a:endParaRPr lang="en-US" sz="3000" dirty="0"/>
          </a:p>
        </p:txBody>
      </p:sp>
      <p:sp>
        <p:nvSpPr>
          <p:cNvPr id="6" name="Text 4"/>
          <p:cNvSpPr txBox="1"/>
          <p:nvPr/>
        </p:nvSpPr>
        <p:spPr>
          <a:xfrm>
            <a:off x="658368" y="2103120"/>
            <a:ext cx="224028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refills had a fake odometer reading</a:t>
            </a:r>
            <a:endParaRPr lang="en-US" sz="1400" dirty="0"/>
          </a:p>
        </p:txBody>
      </p:sp>
      <p:sp>
        <p:nvSpPr>
          <p:cNvPr id="7" name="Text 5"/>
          <p:cNvSpPr txBox="1"/>
          <p:nvPr/>
        </p:nvSpPr>
        <p:spPr>
          <a:xfrm>
            <a:off x="658368" y="2651760"/>
            <a:ext cx="2240280" cy="91440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0, 1, 100 or 123456 typed in. Without real km we cannot measure km per litre.</a:t>
            </a:r>
            <a:endParaRPr lang="en-US" sz="1100" dirty="0"/>
          </a:p>
        </p:txBody>
      </p:sp>
      <p:sp>
        <p:nvSpPr>
          <p:cNvPr id="8" name="Shape 6"/>
          <p:cNvSpPr/>
          <p:nvPr/>
        </p:nvSpPr>
        <p:spPr>
          <a:xfrm>
            <a:off x="3246120" y="1325880"/>
            <a:ext cx="2606040" cy="2377440"/>
          </a:xfrm>
          <a:prstGeom prst="roundRect">
            <a:avLst>
              <a:gd name="adj" fmla="val 3846"/>
            </a:avLst>
          </a:prstGeom>
          <a:solidFill>
            <a:srgbClr val="14305C"/>
          </a:solidFill>
          <a:ln w="12700">
            <a:solidFill>
              <a:srgbClr val="14305C"/>
            </a:solidFill>
            <a:prstDash val="solid"/>
          </a:ln>
        </p:spPr>
      </p:sp>
      <p:sp>
        <p:nvSpPr>
          <p:cNvPr id="9" name="Text 7"/>
          <p:cNvSpPr txBox="1"/>
          <p:nvPr/>
        </p:nvSpPr>
        <p:spPr>
          <a:xfrm>
            <a:off x="3447288" y="1481328"/>
            <a:ext cx="2240280" cy="594360"/>
          </a:xfrm>
          <a:prstGeom prst="rect">
            <a:avLst/>
          </a:prstGeom>
          <a:noFill/>
          <a:ln/>
        </p:spPr>
        <p:txBody>
          <a:bodyPr wrap="square" lIns="0" tIns="0" rIns="0" bIns="0" rtlCol="0" anchor="ctr"/>
          <a:lstStyle/>
          <a:p>
            <a:pPr indent="0" marL="0">
              <a:buNone/>
            </a:pPr>
            <a:r>
              <a:rPr lang="en-US" sz="3000" b="1" dirty="0">
                <a:solidFill>
                  <a:srgbClr val="E8A33D"/>
                </a:solidFill>
                <a:latin typeface="Arial" pitchFamily="34" charset="0"/>
                <a:ea typeface="Arial" pitchFamily="34" charset="-122"/>
                <a:cs typeface="Arial" pitchFamily="34" charset="-120"/>
              </a:rPr>
              <a:t>100 / 150 L</a:t>
            </a:r>
            <a:endParaRPr lang="en-US" sz="3000" dirty="0"/>
          </a:p>
        </p:txBody>
      </p:sp>
      <p:sp>
        <p:nvSpPr>
          <p:cNvPr id="10" name="Text 8"/>
          <p:cNvSpPr txBox="1"/>
          <p:nvPr/>
        </p:nvSpPr>
        <p:spPr>
          <a:xfrm>
            <a:off x="3447288" y="2103120"/>
            <a:ext cx="224028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fixed amounts, not full tank</a:t>
            </a:r>
            <a:endParaRPr lang="en-US" sz="1400" dirty="0"/>
          </a:p>
        </p:txBody>
      </p:sp>
      <p:sp>
        <p:nvSpPr>
          <p:cNvPr id="11" name="Text 9"/>
          <p:cNvSpPr txBox="1"/>
          <p:nvPr/>
        </p:nvSpPr>
        <p:spPr>
          <a:xfrm>
            <a:off x="3447288" y="2651760"/>
            <a:ext cx="2240280" cy="91440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Drivers fill round numbers, so litres per trip cannot be checked against distance.</a:t>
            </a:r>
            <a:endParaRPr lang="en-US" sz="1100" dirty="0"/>
          </a:p>
        </p:txBody>
      </p:sp>
      <p:sp>
        <p:nvSpPr>
          <p:cNvPr id="12" name="Shape 10"/>
          <p:cNvSpPr/>
          <p:nvPr/>
        </p:nvSpPr>
        <p:spPr>
          <a:xfrm>
            <a:off x="6035040" y="1325880"/>
            <a:ext cx="2606040" cy="2377440"/>
          </a:xfrm>
          <a:prstGeom prst="roundRect">
            <a:avLst>
              <a:gd name="adj" fmla="val 3846"/>
            </a:avLst>
          </a:prstGeom>
          <a:solidFill>
            <a:srgbClr val="14305C"/>
          </a:solidFill>
          <a:ln w="12700">
            <a:solidFill>
              <a:srgbClr val="14305C"/>
            </a:solidFill>
            <a:prstDash val="solid"/>
          </a:ln>
        </p:spPr>
      </p:sp>
      <p:sp>
        <p:nvSpPr>
          <p:cNvPr id="13" name="Text 11"/>
          <p:cNvSpPr txBox="1"/>
          <p:nvPr/>
        </p:nvSpPr>
        <p:spPr>
          <a:xfrm>
            <a:off x="6236208" y="1481328"/>
            <a:ext cx="2240280" cy="594360"/>
          </a:xfrm>
          <a:prstGeom prst="rect">
            <a:avLst/>
          </a:prstGeom>
          <a:noFill/>
          <a:ln/>
        </p:spPr>
        <p:txBody>
          <a:bodyPr wrap="square" lIns="0" tIns="0" rIns="0" bIns="0" rtlCol="0" anchor="ctr"/>
          <a:lstStyle/>
          <a:p>
            <a:pPr indent="0" marL="0">
              <a:buNone/>
            </a:pPr>
            <a:r>
              <a:rPr lang="en-US" sz="3000" b="1" dirty="0">
                <a:solidFill>
                  <a:srgbClr val="E8A33D"/>
                </a:solidFill>
                <a:latin typeface="Arial" pitchFamily="34" charset="0"/>
                <a:ea typeface="Arial" pitchFamily="34" charset="-122"/>
                <a:cs typeface="Arial" pitchFamily="34" charset="-120"/>
              </a:rPr>
              <a:t>35</a:t>
            </a:r>
            <a:endParaRPr lang="en-US" sz="3000" dirty="0"/>
          </a:p>
        </p:txBody>
      </p:sp>
      <p:sp>
        <p:nvSpPr>
          <p:cNvPr id="14" name="Text 12"/>
          <p:cNvSpPr txBox="1"/>
          <p:nvPr/>
        </p:nvSpPr>
        <p:spPr>
          <a:xfrm>
            <a:off x="6236208" y="2103120"/>
            <a:ext cx="2240280" cy="5029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trucks and drivers logging</a:t>
            </a:r>
            <a:endParaRPr lang="en-US" sz="1400" dirty="0"/>
          </a:p>
        </p:txBody>
      </p:sp>
      <p:sp>
        <p:nvSpPr>
          <p:cNvPr id="15" name="Text 13"/>
          <p:cNvSpPr txBox="1"/>
          <p:nvPr/>
        </p:nvSpPr>
        <p:spPr>
          <a:xfrm>
            <a:off x="6236208" y="2651760"/>
            <a:ext cx="2240280" cy="914400"/>
          </a:xfrm>
          <a:prstGeom prst="rect">
            <a:avLst/>
          </a:prstGeom>
          <a:noFill/>
          <a:ln/>
        </p:spPr>
        <p:txBody>
          <a:bodyPr wrap="square" lIns="0" tIns="0" rIns="0" bIns="0" rtlCol="0" anchor="t"/>
          <a:lstStyle/>
          <a:p>
            <a:pPr indent="0" marL="0">
              <a:buNone/>
            </a:pPr>
            <a:r>
              <a:rPr lang="en-US" sz="1100" dirty="0">
                <a:solidFill>
                  <a:srgbClr val="B8C4DA"/>
                </a:solidFill>
                <a:latin typeface="Arial" pitchFamily="34" charset="0"/>
                <a:ea typeface="Arial" pitchFamily="34" charset="-122"/>
                <a:cs typeface="Arial" pitchFamily="34" charset="-120"/>
              </a:rPr>
              <a:t>One record per refill with photos and GPS, reviewed daily. The data base for a fleet card check.</a:t>
            </a:r>
            <a:endParaRPr lang="en-US" sz="1100" dirty="0"/>
          </a:p>
        </p:txBody>
      </p:sp>
      <p:sp>
        <p:nvSpPr>
          <p:cNvPr id="16" name="Shape 14"/>
          <p:cNvSpPr/>
          <p:nvPr/>
        </p:nvSpPr>
        <p:spPr>
          <a:xfrm>
            <a:off x="457200" y="3886200"/>
            <a:ext cx="8183880" cy="685800"/>
          </a:xfrm>
          <a:prstGeom prst="roundRect">
            <a:avLst>
              <a:gd name="adj" fmla="val 10667"/>
            </a:avLst>
          </a:prstGeom>
          <a:solidFill>
            <a:srgbClr val="1D3D6E"/>
          </a:solidFill>
          <a:ln w="12700">
            <a:solidFill>
              <a:srgbClr val="E8A33D"/>
            </a:solidFill>
            <a:prstDash val="solid"/>
          </a:ln>
        </p:spPr>
      </p:sp>
      <p:sp>
        <p:nvSpPr>
          <p:cNvPr id="17" name="Text 15"/>
          <p:cNvSpPr txBox="1"/>
          <p:nvPr/>
        </p:nvSpPr>
        <p:spPr>
          <a:xfrm>
            <a:off x="685800" y="3886200"/>
            <a:ext cx="7772400" cy="685800"/>
          </a:xfrm>
          <a:prstGeom prst="rect">
            <a:avLst/>
          </a:prstGeom>
          <a:noFill/>
          <a:ln/>
        </p:spPr>
        <p:txBody>
          <a:bodyPr wrap="square" lIns="0" tIns="0" rIns="0" bIns="0" rtlCol="0" anchor="ctr"/>
          <a:lstStyle/>
          <a:p>
            <a:pPr indent="0" marL="0">
              <a:buNone/>
            </a:pPr>
            <a:r>
              <a:rPr lang="en-US" sz="1300" b="1" dirty="0">
                <a:solidFill>
                  <a:srgbClr val="E8A33D"/>
                </a:solidFill>
                <a:latin typeface="Arial" pitchFamily="34" charset="0"/>
                <a:ea typeface="Arial" pitchFamily="34" charset="-122"/>
                <a:cs typeface="Arial" pitchFamily="34" charset="-120"/>
              </a:rPr>
              <a:t>Fleet card + GPS km </a:t>
            </a:r>
            <a:pPr indent="0" marL="0">
              <a:buNone/>
            </a:pPr>
            <a:r>
              <a:rPr lang="en-US" sz="1300" dirty="0">
                <a:solidFill>
                  <a:srgbClr val="FFFFFF"/>
                </a:solidFill>
                <a:latin typeface="Arial" pitchFamily="34" charset="0"/>
                <a:ea typeface="Arial" pitchFamily="34" charset="-122"/>
                <a:cs typeface="Arial" pitchFamily="34" charset="-120"/>
              </a:rPr>
              <a:t>closes this gap: litres are capped per vehicle and checked against real distance every month.</a:t>
            </a:r>
            <a:endParaRPr lang="en-US" sz="13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3.2 ISI Live Delivery: order-to-door visibility</a:t>
            </a:r>
            <a:endParaRPr lang="en-US" sz="2000" dirty="0"/>
          </a:p>
        </p:txBody>
      </p:sp>
      <p:sp>
        <p:nvSpPr>
          <p:cNvPr id="3" name="Text 1"/>
          <p:cNvSpPr txBox="1"/>
          <p:nvPr/>
        </p:nvSpPr>
        <p:spPr>
          <a:xfrm>
            <a:off x="365760" y="804672"/>
            <a:ext cx="8229600" cy="274320"/>
          </a:xfrm>
          <a:prstGeom prst="rect">
            <a:avLst/>
          </a:prstGeom>
          <a:noFill/>
          <a:ln/>
        </p:spPr>
        <p:txBody>
          <a:bodyPr wrap="square" lIns="0" tIns="0" rIns="0" bIns="0" rtlCol="0" anchor="ctr"/>
          <a:lstStyle/>
          <a:p>
            <a:pPr indent="0" marL="0">
              <a:buNone/>
            </a:pPr>
            <a:r>
              <a:rPr lang="en-US" sz="1400" b="1" dirty="0">
                <a:solidFill>
                  <a:srgbClr val="011E41"/>
                </a:solidFill>
                <a:latin typeface="Arial" pitchFamily="34" charset="0"/>
                <a:ea typeface="Arial" pitchFamily="34" charset="-122"/>
                <a:cs typeface="Arial" pitchFamily="34" charset="-120"/>
              </a:rPr>
              <a:t>The customer journey we will deliver by Sep 2027</a:t>
            </a:r>
            <a:endParaRPr lang="en-US" sz="1400" dirty="0"/>
          </a:p>
        </p:txBody>
      </p:sp>
      <p:sp>
        <p:nvSpPr>
          <p:cNvPr id="4" name="Shape 2"/>
          <p:cNvSpPr/>
          <p:nvPr/>
        </p:nvSpPr>
        <p:spPr>
          <a:xfrm>
            <a:off x="365760" y="1188720"/>
            <a:ext cx="1325880" cy="2331720"/>
          </a:xfrm>
          <a:prstGeom prst="roundRect">
            <a:avLst>
              <a:gd name="adj" fmla="val 5517"/>
            </a:avLst>
          </a:prstGeom>
          <a:solidFill>
            <a:srgbClr val="FFFFFF"/>
          </a:solidFill>
          <a:ln w="9525">
            <a:solidFill>
              <a:srgbClr val="C9D2E0"/>
            </a:solidFill>
            <a:prstDash val="solid"/>
          </a:ln>
        </p:spPr>
      </p:sp>
      <p:sp>
        <p:nvSpPr>
          <p:cNvPr id="5" name="Shape 3"/>
          <p:cNvSpPr/>
          <p:nvPr/>
        </p:nvSpPr>
        <p:spPr>
          <a:xfrm>
            <a:off x="795528" y="1325880"/>
            <a:ext cx="475488" cy="475488"/>
          </a:xfrm>
          <a:prstGeom prst="ellipse">
            <a:avLst/>
          </a:prstGeom>
          <a:solidFill>
            <a:srgbClr val="011E41"/>
          </a:solidFill>
          <a:ln w="12700">
            <a:solidFill>
              <a:srgbClr val="011E41"/>
            </a:solidFill>
            <a:prstDash val="solid"/>
          </a:ln>
        </p:spPr>
      </p:sp>
      <p:pic>
        <p:nvPicPr>
          <p:cNvPr id="6" name="Image 0" descr="preencoded.png">    </p:cNvPr>
          <p:cNvPicPr>
            <a:picLocks noChangeAspect="1"/>
          </p:cNvPicPr>
          <p:nvPr/>
        </p:nvPicPr>
        <p:blipFill>
          <a:blip r:embed="rId1"/>
          <a:stretch>
            <a:fillRect/>
          </a:stretch>
        </p:blipFill>
        <p:spPr>
          <a:xfrm>
            <a:off x="914400" y="1444752"/>
            <a:ext cx="237744" cy="237744"/>
          </a:xfrm>
          <a:prstGeom prst="rect">
            <a:avLst/>
          </a:prstGeom>
        </p:spPr>
      </p:pic>
      <p:sp>
        <p:nvSpPr>
          <p:cNvPr id="7" name="Text 4"/>
          <p:cNvSpPr txBox="1"/>
          <p:nvPr/>
        </p:nvSpPr>
        <p:spPr>
          <a:xfrm>
            <a:off x="457200"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Order captured</a:t>
            </a:r>
            <a:endParaRPr lang="en-US" sz="1200" dirty="0"/>
          </a:p>
        </p:txBody>
      </p:sp>
      <p:sp>
        <p:nvSpPr>
          <p:cNvPr id="8" name="Text 5"/>
          <p:cNvSpPr txBox="1"/>
          <p:nvPr/>
        </p:nvSpPr>
        <p:spPr>
          <a:xfrm>
            <a:off x="457200"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SAP commits stock at once. Today: 2–3 days</a:t>
            </a:r>
            <a:endParaRPr lang="en-US" sz="1000" dirty="0"/>
          </a:p>
        </p:txBody>
      </p:sp>
      <p:sp>
        <p:nvSpPr>
          <p:cNvPr id="9" name="Shape 6"/>
          <p:cNvSpPr/>
          <p:nvPr/>
        </p:nvSpPr>
        <p:spPr>
          <a:xfrm>
            <a:off x="548640" y="3127248"/>
            <a:ext cx="960120" cy="274320"/>
          </a:xfrm>
          <a:prstGeom prst="roundRect">
            <a:avLst>
              <a:gd name="adj" fmla="val 16667"/>
            </a:avLst>
          </a:prstGeom>
          <a:solidFill>
            <a:srgbClr val="BF9000"/>
          </a:solidFill>
          <a:ln w="12700">
            <a:solidFill>
              <a:srgbClr val="FFFFFF"/>
            </a:solidFill>
            <a:prstDash val="solid"/>
          </a:ln>
        </p:spPr>
      </p:sp>
      <p:sp>
        <p:nvSpPr>
          <p:cNvPr id="10" name="Text 7"/>
          <p:cNvSpPr txBox="1"/>
          <p:nvPr/>
        </p:nvSpPr>
        <p:spPr>
          <a:xfrm>
            <a:off x="548640"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Build</a:t>
            </a:r>
            <a:endParaRPr lang="en-US" sz="1000" dirty="0"/>
          </a:p>
        </p:txBody>
      </p:sp>
      <p:sp>
        <p:nvSpPr>
          <p:cNvPr id="11" name="Shape 8"/>
          <p:cNvSpPr/>
          <p:nvPr/>
        </p:nvSpPr>
        <p:spPr>
          <a:xfrm>
            <a:off x="1764792" y="1188720"/>
            <a:ext cx="1325880" cy="2331720"/>
          </a:xfrm>
          <a:prstGeom prst="roundRect">
            <a:avLst>
              <a:gd name="adj" fmla="val 5517"/>
            </a:avLst>
          </a:prstGeom>
          <a:solidFill>
            <a:srgbClr val="FFFFFF"/>
          </a:solidFill>
          <a:ln w="9525">
            <a:solidFill>
              <a:srgbClr val="C9D2E0"/>
            </a:solidFill>
            <a:prstDash val="solid"/>
          </a:ln>
        </p:spPr>
      </p:sp>
      <p:sp>
        <p:nvSpPr>
          <p:cNvPr id="12" name="Shape 9"/>
          <p:cNvSpPr/>
          <p:nvPr/>
        </p:nvSpPr>
        <p:spPr>
          <a:xfrm>
            <a:off x="2194560" y="1325880"/>
            <a:ext cx="475488" cy="475488"/>
          </a:xfrm>
          <a:prstGeom prst="ellipse">
            <a:avLst/>
          </a:prstGeom>
          <a:solidFill>
            <a:srgbClr val="011E41"/>
          </a:solidFill>
          <a:ln w="12700">
            <a:solidFill>
              <a:srgbClr val="011E41"/>
            </a:solidFill>
            <a:prstDash val="solid"/>
          </a:ln>
        </p:spPr>
      </p:sp>
      <p:pic>
        <p:nvPicPr>
          <p:cNvPr id="13" name="Image 1" descr="preencoded.png">    </p:cNvPr>
          <p:cNvPicPr>
            <a:picLocks noChangeAspect="1"/>
          </p:cNvPicPr>
          <p:nvPr/>
        </p:nvPicPr>
        <p:blipFill>
          <a:blip r:embed="rId2"/>
          <a:stretch>
            <a:fillRect/>
          </a:stretch>
        </p:blipFill>
        <p:spPr>
          <a:xfrm>
            <a:off x="2313432" y="1444752"/>
            <a:ext cx="237744" cy="237744"/>
          </a:xfrm>
          <a:prstGeom prst="rect">
            <a:avLst/>
          </a:prstGeom>
        </p:spPr>
      </p:pic>
      <p:sp>
        <p:nvSpPr>
          <p:cNvPr id="14" name="Text 10"/>
          <p:cNvSpPr txBox="1"/>
          <p:nvPr/>
        </p:nvSpPr>
        <p:spPr>
          <a:xfrm>
            <a:off x="1856232"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Loading</a:t>
            </a:r>
            <a:endParaRPr lang="en-US" sz="1200" dirty="0"/>
          </a:p>
        </p:txBody>
      </p:sp>
      <p:sp>
        <p:nvSpPr>
          <p:cNvPr id="15" name="Text 11"/>
          <p:cNvSpPr txBox="1"/>
          <p:nvPr/>
        </p:nvSpPr>
        <p:spPr>
          <a:xfrm>
            <a:off x="1856232"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Gate In, loading and DN scan in the app</a:t>
            </a:r>
            <a:endParaRPr lang="en-US" sz="1000" dirty="0"/>
          </a:p>
        </p:txBody>
      </p:sp>
      <p:sp>
        <p:nvSpPr>
          <p:cNvPr id="16" name="Shape 12"/>
          <p:cNvSpPr/>
          <p:nvPr/>
        </p:nvSpPr>
        <p:spPr>
          <a:xfrm>
            <a:off x="1947672" y="3127248"/>
            <a:ext cx="960120" cy="274320"/>
          </a:xfrm>
          <a:prstGeom prst="roundRect">
            <a:avLst>
              <a:gd name="adj" fmla="val 16667"/>
            </a:avLst>
          </a:prstGeom>
          <a:solidFill>
            <a:srgbClr val="2E8B57"/>
          </a:solidFill>
          <a:ln w="12700">
            <a:solidFill>
              <a:srgbClr val="FFFFFF"/>
            </a:solidFill>
            <a:prstDash val="solid"/>
          </a:ln>
        </p:spPr>
      </p:sp>
      <p:sp>
        <p:nvSpPr>
          <p:cNvPr id="17" name="Text 13"/>
          <p:cNvSpPr txBox="1"/>
          <p:nvPr/>
        </p:nvSpPr>
        <p:spPr>
          <a:xfrm>
            <a:off x="1947672"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18" name="Shape 14"/>
          <p:cNvSpPr/>
          <p:nvPr/>
        </p:nvSpPr>
        <p:spPr>
          <a:xfrm>
            <a:off x="3163824" y="1188720"/>
            <a:ext cx="1325880" cy="2331720"/>
          </a:xfrm>
          <a:prstGeom prst="roundRect">
            <a:avLst>
              <a:gd name="adj" fmla="val 5517"/>
            </a:avLst>
          </a:prstGeom>
          <a:solidFill>
            <a:srgbClr val="FFFFFF"/>
          </a:solidFill>
          <a:ln w="9525">
            <a:solidFill>
              <a:srgbClr val="C9D2E0"/>
            </a:solidFill>
            <a:prstDash val="solid"/>
          </a:ln>
        </p:spPr>
      </p:sp>
      <p:sp>
        <p:nvSpPr>
          <p:cNvPr id="19" name="Shape 15"/>
          <p:cNvSpPr/>
          <p:nvPr/>
        </p:nvSpPr>
        <p:spPr>
          <a:xfrm>
            <a:off x="3593592" y="1325880"/>
            <a:ext cx="475488" cy="475488"/>
          </a:xfrm>
          <a:prstGeom prst="ellipse">
            <a:avLst/>
          </a:prstGeom>
          <a:solidFill>
            <a:srgbClr val="011E41"/>
          </a:solidFill>
          <a:ln w="12700">
            <a:solidFill>
              <a:srgbClr val="011E41"/>
            </a:solidFill>
            <a:prstDash val="solid"/>
          </a:ln>
        </p:spPr>
      </p:sp>
      <p:pic>
        <p:nvPicPr>
          <p:cNvPr id="20" name="Image 2" descr="preencoded.png">    </p:cNvPr>
          <p:cNvPicPr>
            <a:picLocks noChangeAspect="1"/>
          </p:cNvPicPr>
          <p:nvPr/>
        </p:nvPicPr>
        <p:blipFill>
          <a:blip r:embed="rId3"/>
          <a:stretch>
            <a:fillRect/>
          </a:stretch>
        </p:blipFill>
        <p:spPr>
          <a:xfrm>
            <a:off x="3712464" y="1444752"/>
            <a:ext cx="237744" cy="237744"/>
          </a:xfrm>
          <a:prstGeom prst="rect">
            <a:avLst/>
          </a:prstGeom>
        </p:spPr>
      </p:pic>
      <p:sp>
        <p:nvSpPr>
          <p:cNvPr id="21" name="Text 16"/>
          <p:cNvSpPr txBox="1"/>
          <p:nvPr/>
        </p:nvSpPr>
        <p:spPr>
          <a:xfrm>
            <a:off x="3255264"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Gate Out</a:t>
            </a:r>
            <a:endParaRPr lang="en-US" sz="1200" dirty="0"/>
          </a:p>
        </p:txBody>
      </p:sp>
      <p:sp>
        <p:nvSpPr>
          <p:cNvPr id="22" name="Text 17"/>
          <p:cNvSpPr txBox="1"/>
          <p:nvPr/>
        </p:nvSpPr>
        <p:spPr>
          <a:xfrm>
            <a:off x="3255264"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Customer gets ETA by Telegram or SMS</a:t>
            </a:r>
            <a:endParaRPr lang="en-US" sz="1000" dirty="0"/>
          </a:p>
        </p:txBody>
      </p:sp>
      <p:sp>
        <p:nvSpPr>
          <p:cNvPr id="23" name="Shape 18"/>
          <p:cNvSpPr/>
          <p:nvPr/>
        </p:nvSpPr>
        <p:spPr>
          <a:xfrm>
            <a:off x="3346704" y="3127248"/>
            <a:ext cx="960120" cy="274320"/>
          </a:xfrm>
          <a:prstGeom prst="roundRect">
            <a:avLst>
              <a:gd name="adj" fmla="val 16667"/>
            </a:avLst>
          </a:prstGeom>
          <a:solidFill>
            <a:srgbClr val="BF9000"/>
          </a:solidFill>
          <a:ln w="12700">
            <a:solidFill>
              <a:srgbClr val="FFFFFF"/>
            </a:solidFill>
            <a:prstDash val="solid"/>
          </a:ln>
        </p:spPr>
      </p:sp>
      <p:sp>
        <p:nvSpPr>
          <p:cNvPr id="24" name="Text 19"/>
          <p:cNvSpPr txBox="1"/>
          <p:nvPr/>
        </p:nvSpPr>
        <p:spPr>
          <a:xfrm>
            <a:off x="3346704"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Build</a:t>
            </a:r>
            <a:endParaRPr lang="en-US" sz="1000" dirty="0"/>
          </a:p>
        </p:txBody>
      </p:sp>
      <p:sp>
        <p:nvSpPr>
          <p:cNvPr id="25" name="Shape 20"/>
          <p:cNvSpPr/>
          <p:nvPr/>
        </p:nvSpPr>
        <p:spPr>
          <a:xfrm>
            <a:off x="4562856" y="1188720"/>
            <a:ext cx="1325880" cy="2331720"/>
          </a:xfrm>
          <a:prstGeom prst="roundRect">
            <a:avLst>
              <a:gd name="adj" fmla="val 5517"/>
            </a:avLst>
          </a:prstGeom>
          <a:solidFill>
            <a:srgbClr val="FFFFFF"/>
          </a:solidFill>
          <a:ln w="9525">
            <a:solidFill>
              <a:srgbClr val="C9D2E0"/>
            </a:solidFill>
            <a:prstDash val="solid"/>
          </a:ln>
        </p:spPr>
      </p:sp>
      <p:sp>
        <p:nvSpPr>
          <p:cNvPr id="26" name="Shape 21"/>
          <p:cNvSpPr/>
          <p:nvPr/>
        </p:nvSpPr>
        <p:spPr>
          <a:xfrm>
            <a:off x="4992624" y="1325880"/>
            <a:ext cx="475488" cy="475488"/>
          </a:xfrm>
          <a:prstGeom prst="ellipse">
            <a:avLst/>
          </a:prstGeom>
          <a:solidFill>
            <a:srgbClr val="011E41"/>
          </a:solidFill>
          <a:ln w="12700">
            <a:solidFill>
              <a:srgbClr val="011E41"/>
            </a:solidFill>
            <a:prstDash val="solid"/>
          </a:ln>
        </p:spPr>
      </p:sp>
      <p:pic>
        <p:nvPicPr>
          <p:cNvPr id="27" name="Image 3" descr="preencoded.png">    </p:cNvPr>
          <p:cNvPicPr>
            <a:picLocks noChangeAspect="1"/>
          </p:cNvPicPr>
          <p:nvPr/>
        </p:nvPicPr>
        <p:blipFill>
          <a:blip r:embed="rId4"/>
          <a:stretch>
            <a:fillRect/>
          </a:stretch>
        </p:blipFill>
        <p:spPr>
          <a:xfrm>
            <a:off x="5111496" y="1444752"/>
            <a:ext cx="237744" cy="237744"/>
          </a:xfrm>
          <a:prstGeom prst="rect">
            <a:avLst/>
          </a:prstGeom>
        </p:spPr>
      </p:pic>
      <p:sp>
        <p:nvSpPr>
          <p:cNvPr id="28" name="Text 22"/>
          <p:cNvSpPr txBox="1"/>
          <p:nvPr/>
        </p:nvSpPr>
        <p:spPr>
          <a:xfrm>
            <a:off x="4654296"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On the road</a:t>
            </a:r>
            <a:endParaRPr lang="en-US" sz="1200" dirty="0"/>
          </a:p>
        </p:txBody>
      </p:sp>
      <p:sp>
        <p:nvSpPr>
          <p:cNvPr id="29" name="Text 23"/>
          <p:cNvSpPr txBox="1"/>
          <p:nvPr/>
        </p:nvSpPr>
        <p:spPr>
          <a:xfrm>
            <a:off x="4654296"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Live map link, like a food-delivery app</a:t>
            </a:r>
            <a:endParaRPr lang="en-US" sz="1000" dirty="0"/>
          </a:p>
        </p:txBody>
      </p:sp>
      <p:sp>
        <p:nvSpPr>
          <p:cNvPr id="30" name="Shape 24"/>
          <p:cNvSpPr/>
          <p:nvPr/>
        </p:nvSpPr>
        <p:spPr>
          <a:xfrm>
            <a:off x="4745736" y="3127248"/>
            <a:ext cx="960120" cy="274320"/>
          </a:xfrm>
          <a:prstGeom prst="roundRect">
            <a:avLst>
              <a:gd name="adj" fmla="val 16667"/>
            </a:avLst>
          </a:prstGeom>
          <a:solidFill>
            <a:srgbClr val="BF9000"/>
          </a:solidFill>
          <a:ln w="12700">
            <a:solidFill>
              <a:srgbClr val="FFFFFF"/>
            </a:solidFill>
            <a:prstDash val="solid"/>
          </a:ln>
        </p:spPr>
      </p:sp>
      <p:sp>
        <p:nvSpPr>
          <p:cNvPr id="31" name="Text 25"/>
          <p:cNvSpPr txBox="1"/>
          <p:nvPr/>
        </p:nvSpPr>
        <p:spPr>
          <a:xfrm>
            <a:off x="4745736"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Build</a:t>
            </a:r>
            <a:endParaRPr lang="en-US" sz="1000" dirty="0"/>
          </a:p>
        </p:txBody>
      </p:sp>
      <p:sp>
        <p:nvSpPr>
          <p:cNvPr id="32" name="Shape 26"/>
          <p:cNvSpPr/>
          <p:nvPr/>
        </p:nvSpPr>
        <p:spPr>
          <a:xfrm>
            <a:off x="5961888" y="1188720"/>
            <a:ext cx="1325880" cy="2331720"/>
          </a:xfrm>
          <a:prstGeom prst="roundRect">
            <a:avLst>
              <a:gd name="adj" fmla="val 5517"/>
            </a:avLst>
          </a:prstGeom>
          <a:solidFill>
            <a:srgbClr val="FFFFFF"/>
          </a:solidFill>
          <a:ln w="9525">
            <a:solidFill>
              <a:srgbClr val="C9D2E0"/>
            </a:solidFill>
            <a:prstDash val="solid"/>
          </a:ln>
        </p:spPr>
      </p:sp>
      <p:sp>
        <p:nvSpPr>
          <p:cNvPr id="33" name="Shape 27"/>
          <p:cNvSpPr/>
          <p:nvPr/>
        </p:nvSpPr>
        <p:spPr>
          <a:xfrm>
            <a:off x="6391656" y="1325880"/>
            <a:ext cx="475488" cy="475488"/>
          </a:xfrm>
          <a:prstGeom prst="ellipse">
            <a:avLst/>
          </a:prstGeom>
          <a:solidFill>
            <a:srgbClr val="011E41"/>
          </a:solidFill>
          <a:ln w="12700">
            <a:solidFill>
              <a:srgbClr val="011E41"/>
            </a:solidFill>
            <a:prstDash val="solid"/>
          </a:ln>
        </p:spPr>
      </p:sp>
      <p:pic>
        <p:nvPicPr>
          <p:cNvPr id="34" name="Image 4" descr="preencoded.png">    </p:cNvPr>
          <p:cNvPicPr>
            <a:picLocks noChangeAspect="1"/>
          </p:cNvPicPr>
          <p:nvPr/>
        </p:nvPicPr>
        <p:blipFill>
          <a:blip r:embed="rId5"/>
          <a:stretch>
            <a:fillRect/>
          </a:stretch>
        </p:blipFill>
        <p:spPr>
          <a:xfrm>
            <a:off x="6510528" y="1444752"/>
            <a:ext cx="237744" cy="237744"/>
          </a:xfrm>
          <a:prstGeom prst="rect">
            <a:avLst/>
          </a:prstGeom>
        </p:spPr>
      </p:pic>
      <p:sp>
        <p:nvSpPr>
          <p:cNvPr id="35" name="Text 28"/>
          <p:cNvSpPr txBox="1"/>
          <p:nvPr/>
        </p:nvSpPr>
        <p:spPr>
          <a:xfrm>
            <a:off x="6053328"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Arrival</a:t>
            </a:r>
            <a:endParaRPr lang="en-US" sz="1200" dirty="0"/>
          </a:p>
        </p:txBody>
      </p:sp>
      <p:sp>
        <p:nvSpPr>
          <p:cNvPr id="36" name="Text 29"/>
          <p:cNvSpPr txBox="1"/>
          <p:nvPr/>
        </p:nvSpPr>
        <p:spPr>
          <a:xfrm>
            <a:off x="6053328"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GPS geofence confirms delivery</a:t>
            </a:r>
            <a:endParaRPr lang="en-US" sz="1000" dirty="0"/>
          </a:p>
        </p:txBody>
      </p:sp>
      <p:sp>
        <p:nvSpPr>
          <p:cNvPr id="37" name="Shape 30"/>
          <p:cNvSpPr/>
          <p:nvPr/>
        </p:nvSpPr>
        <p:spPr>
          <a:xfrm>
            <a:off x="6144768" y="3127248"/>
            <a:ext cx="960120" cy="274320"/>
          </a:xfrm>
          <a:prstGeom prst="roundRect">
            <a:avLst>
              <a:gd name="adj" fmla="val 16667"/>
            </a:avLst>
          </a:prstGeom>
          <a:solidFill>
            <a:srgbClr val="0B76A0"/>
          </a:solidFill>
          <a:ln w="12700">
            <a:solidFill>
              <a:srgbClr val="FFFFFF"/>
            </a:solidFill>
            <a:prstDash val="solid"/>
          </a:ln>
        </p:spPr>
      </p:sp>
      <p:sp>
        <p:nvSpPr>
          <p:cNvPr id="38" name="Text 31"/>
          <p:cNvSpPr txBox="1"/>
          <p:nvPr/>
        </p:nvSpPr>
        <p:spPr>
          <a:xfrm>
            <a:off x="6144768"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Partly live</a:t>
            </a:r>
            <a:endParaRPr lang="en-US" sz="1000" dirty="0"/>
          </a:p>
        </p:txBody>
      </p:sp>
      <p:sp>
        <p:nvSpPr>
          <p:cNvPr id="39" name="Shape 32"/>
          <p:cNvSpPr/>
          <p:nvPr/>
        </p:nvSpPr>
        <p:spPr>
          <a:xfrm>
            <a:off x="7360920" y="1188720"/>
            <a:ext cx="1325880" cy="2331720"/>
          </a:xfrm>
          <a:prstGeom prst="roundRect">
            <a:avLst>
              <a:gd name="adj" fmla="val 5517"/>
            </a:avLst>
          </a:prstGeom>
          <a:solidFill>
            <a:srgbClr val="FFFFFF"/>
          </a:solidFill>
          <a:ln w="9525">
            <a:solidFill>
              <a:srgbClr val="C9D2E0"/>
            </a:solidFill>
            <a:prstDash val="solid"/>
          </a:ln>
        </p:spPr>
      </p:sp>
      <p:sp>
        <p:nvSpPr>
          <p:cNvPr id="40" name="Shape 33"/>
          <p:cNvSpPr/>
          <p:nvPr/>
        </p:nvSpPr>
        <p:spPr>
          <a:xfrm>
            <a:off x="7790688" y="1325880"/>
            <a:ext cx="475488" cy="475488"/>
          </a:xfrm>
          <a:prstGeom prst="ellipse">
            <a:avLst/>
          </a:prstGeom>
          <a:solidFill>
            <a:srgbClr val="011E41"/>
          </a:solidFill>
          <a:ln w="12700">
            <a:solidFill>
              <a:srgbClr val="011E41"/>
            </a:solidFill>
            <a:prstDash val="solid"/>
          </a:ln>
        </p:spPr>
      </p:sp>
      <p:pic>
        <p:nvPicPr>
          <p:cNvPr id="41" name="Image 5" descr="preencoded.png">    </p:cNvPr>
          <p:cNvPicPr>
            <a:picLocks noChangeAspect="1"/>
          </p:cNvPicPr>
          <p:nvPr/>
        </p:nvPicPr>
        <p:blipFill>
          <a:blip r:embed="rId6"/>
          <a:stretch>
            <a:fillRect/>
          </a:stretch>
        </p:blipFill>
        <p:spPr>
          <a:xfrm>
            <a:off x="7909560" y="1444752"/>
            <a:ext cx="237744" cy="237744"/>
          </a:xfrm>
          <a:prstGeom prst="rect">
            <a:avLst/>
          </a:prstGeom>
        </p:spPr>
      </p:pic>
      <p:sp>
        <p:nvSpPr>
          <p:cNvPr id="42" name="Text 34"/>
          <p:cNvSpPr txBox="1"/>
          <p:nvPr/>
        </p:nvSpPr>
        <p:spPr>
          <a:xfrm>
            <a:off x="7452360" y="1874520"/>
            <a:ext cx="1143000" cy="457200"/>
          </a:xfrm>
          <a:prstGeom prst="rect">
            <a:avLst/>
          </a:prstGeom>
          <a:noFill/>
          <a:ln/>
        </p:spPr>
        <p:txBody>
          <a:bodyPr wrap="square" lIns="0" tIns="0" rIns="0" bIns="0" rtlCol="0" anchor="ctr"/>
          <a:lstStyle/>
          <a:p>
            <a:pPr algn="ctr" indent="0" marL="0">
              <a:buNone/>
            </a:pPr>
            <a:r>
              <a:rPr lang="en-US" sz="1200" b="1" dirty="0">
                <a:solidFill>
                  <a:srgbClr val="011E41"/>
                </a:solidFill>
                <a:latin typeface="Arial" pitchFamily="34" charset="0"/>
                <a:ea typeface="Arial" pitchFamily="34" charset="-122"/>
                <a:cs typeface="Arial" pitchFamily="34" charset="-120"/>
              </a:rPr>
              <a:t>Proof of delivery</a:t>
            </a:r>
            <a:endParaRPr lang="en-US" sz="1200" dirty="0"/>
          </a:p>
        </p:txBody>
      </p:sp>
      <p:sp>
        <p:nvSpPr>
          <p:cNvPr id="43" name="Text 35"/>
          <p:cNvSpPr txBox="1"/>
          <p:nvPr/>
        </p:nvSpPr>
        <p:spPr>
          <a:xfrm>
            <a:off x="7452360" y="2331720"/>
            <a:ext cx="1143000" cy="731520"/>
          </a:xfrm>
          <a:prstGeom prst="rect">
            <a:avLst/>
          </a:prstGeom>
          <a:noFill/>
          <a:ln/>
        </p:spPr>
        <p:txBody>
          <a:bodyPr wrap="square" lIns="0" tIns="0" rIns="0" bIns="0" rtlCol="0" anchor="t"/>
          <a:lstStyle/>
          <a:p>
            <a:pPr algn="ctr" indent="0" marL="0">
              <a:buNone/>
            </a:pPr>
            <a:r>
              <a:rPr lang="en-US" sz="1000" dirty="0">
                <a:solidFill>
                  <a:srgbClr val="1A1A1A"/>
                </a:solidFill>
                <a:latin typeface="Arial" pitchFamily="34" charset="0"/>
                <a:ea typeface="Arial" pitchFamily="34" charset="-122"/>
                <a:cs typeface="Arial" pitchFamily="34" charset="-120"/>
              </a:rPr>
              <a:t>Digital POD with photo and signature</a:t>
            </a:r>
            <a:endParaRPr lang="en-US" sz="1000" dirty="0"/>
          </a:p>
        </p:txBody>
      </p:sp>
      <p:sp>
        <p:nvSpPr>
          <p:cNvPr id="44" name="Shape 36"/>
          <p:cNvSpPr/>
          <p:nvPr/>
        </p:nvSpPr>
        <p:spPr>
          <a:xfrm>
            <a:off x="7543800" y="3127248"/>
            <a:ext cx="960120" cy="274320"/>
          </a:xfrm>
          <a:prstGeom prst="roundRect">
            <a:avLst>
              <a:gd name="adj" fmla="val 16667"/>
            </a:avLst>
          </a:prstGeom>
          <a:solidFill>
            <a:srgbClr val="2E8B57"/>
          </a:solidFill>
          <a:ln w="12700">
            <a:solidFill>
              <a:srgbClr val="FFFFFF"/>
            </a:solidFill>
            <a:prstDash val="solid"/>
          </a:ln>
        </p:spPr>
      </p:sp>
      <p:sp>
        <p:nvSpPr>
          <p:cNvPr id="45" name="Text 37"/>
          <p:cNvSpPr txBox="1"/>
          <p:nvPr/>
        </p:nvSpPr>
        <p:spPr>
          <a:xfrm>
            <a:off x="7543800" y="3127248"/>
            <a:ext cx="9601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46" name="Shape 38"/>
          <p:cNvSpPr/>
          <p:nvPr/>
        </p:nvSpPr>
        <p:spPr>
          <a:xfrm>
            <a:off x="365760" y="3703320"/>
            <a:ext cx="8412480" cy="960120"/>
          </a:xfrm>
          <a:prstGeom prst="roundRect">
            <a:avLst>
              <a:gd name="adj" fmla="val 7619"/>
            </a:avLst>
          </a:prstGeom>
          <a:solidFill>
            <a:srgbClr val="D4E1F5"/>
          </a:solidFill>
          <a:ln w="12700">
            <a:solidFill>
              <a:srgbClr val="D4E1F5"/>
            </a:solidFill>
            <a:prstDash val="solid"/>
          </a:ln>
        </p:spPr>
      </p:sp>
      <p:sp>
        <p:nvSpPr>
          <p:cNvPr id="47" name="Text 39"/>
          <p:cNvSpPr txBox="1"/>
          <p:nvPr/>
        </p:nvSpPr>
        <p:spPr>
          <a:xfrm>
            <a:off x="548640" y="3749040"/>
            <a:ext cx="8092440" cy="868680"/>
          </a:xfrm>
          <a:prstGeom prst="rect">
            <a:avLst/>
          </a:prstGeom>
          <a:noFill/>
          <a:ln/>
        </p:spPr>
        <p:txBody>
          <a:bodyPr wrap="square" lIns="0" tIns="0" rIns="0" bIns="0" rtlCol="0" anchor="ctr"/>
          <a:lstStyle/>
          <a:p>
            <a:pPr indent="0" marL="0">
              <a:spcAft>
                <a:spcPts val="300"/>
              </a:spcAft>
              <a:buNone/>
            </a:pPr>
            <a:r>
              <a:rPr lang="en-US" sz="1150" b="1" dirty="0">
                <a:solidFill>
                  <a:srgbClr val="011E41"/>
                </a:solidFill>
                <a:latin typeface="Arial" pitchFamily="34" charset="0"/>
                <a:ea typeface="Arial" pitchFamily="34" charset="-122"/>
                <a:cs typeface="Arial" pitchFamily="34" charset="-120"/>
              </a:rPr>
              <a:t>Head start: </a:t>
            </a:r>
            <a:pPr indent="0" marL="0">
              <a:spcAft>
                <a:spcPts val="300"/>
              </a:spcAft>
              <a:buNone/>
            </a:pPr>
            <a:r>
              <a:rPr lang="en-US" sz="1150" dirty="0">
                <a:solidFill>
                  <a:srgbClr val="1A1A1A"/>
                </a:solidFill>
                <a:latin typeface="Arial" pitchFamily="34" charset="0"/>
                <a:ea typeface="Arial" pitchFamily="34" charset="-122"/>
                <a:cs typeface="Arial" pitchFamily="34" charset="-120"/>
              </a:rPr>
              <a:t>the Delivery Journey app already records Gate In, loading, Gate Out, a 1 km arrival check and proof of delivery. 2027 adds the SAP stock commit, customer messages and the live map.</a:t>
            </a:r>
            <a:endParaRPr lang="en-US" sz="1150" dirty="0"/>
          </a:p>
          <a:p>
            <a:pPr indent="0" marL="0">
              <a:spcAft>
                <a:spcPts val="300"/>
              </a:spcAft>
              <a:buNone/>
            </a:pPr>
            <a:r>
              <a:rPr lang="en-US" sz="1150" b="1" dirty="0">
                <a:solidFill>
                  <a:srgbClr val="011E41"/>
                </a:solidFill>
                <a:latin typeface="Arial" pitchFamily="34" charset="0"/>
                <a:ea typeface="Arial" pitchFamily="34" charset="-122"/>
                <a:cs typeface="Arial" pitchFamily="34" charset="-120"/>
              </a:rPr>
              <a:t>Dependency: </a:t>
            </a:r>
            <a:pPr indent="0" marL="0">
              <a:spcAft>
                <a:spcPts val="300"/>
              </a:spcAft>
              <a:buNone/>
            </a:pPr>
            <a:r>
              <a:rPr lang="en-US" sz="1150" dirty="0">
                <a:solidFill>
                  <a:srgbClr val="1A1A1A"/>
                </a:solidFill>
                <a:latin typeface="Arial" pitchFamily="34" charset="0"/>
                <a:ea typeface="Arial" pitchFamily="34" charset="-122"/>
                <a:cs typeface="Arial" pitchFamily="34" charset="-120"/>
              </a:rPr>
              <a:t>the truck flow platform must reach all sites by Apr 2027.</a:t>
            </a:r>
            <a:endParaRPr lang="en-US" sz="115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600" b="1" dirty="0">
                <a:solidFill>
                  <a:srgbClr val="F2F2F2"/>
                </a:solidFill>
                <a:latin typeface="Arial" pitchFamily="34" charset="0"/>
                <a:ea typeface="Arial" pitchFamily="34" charset="-122"/>
                <a:cs typeface="Arial" pitchFamily="34" charset="-120"/>
              </a:rPr>
              <a:t>Next: what customers and 3PL will see</a:t>
            </a:r>
            <a:endParaRPr lang="en-US" sz="2600" dirty="0"/>
          </a:p>
        </p:txBody>
      </p:sp>
      <p:pic>
        <p:nvPicPr>
          <p:cNvPr id="3" name="del-scan-en.png" descr="/tmp/claude-0/sd/phones/del-scan-en.png">    </p:cNvPr>
          <p:cNvPicPr>
            <a:picLocks noChangeAspect="1"/>
          </p:cNvPicPr>
          <p:nvPr/>
        </p:nvPicPr>
        <p:blipFill>
          <a:blip r:embed="rId1"/>
          <a:stretch>
            <a:fillRect/>
          </a:stretch>
        </p:blipFill>
        <p:spPr>
          <a:xfrm>
            <a:off x="1703871" y="1051560"/>
            <a:ext cx="1698726" cy="3200400"/>
          </a:xfrm>
          <a:prstGeom prst="rect">
            <a:avLst/>
          </a:prstGeom>
        </p:spPr>
      </p:pic>
      <p:sp>
        <p:nvSpPr>
          <p:cNvPr id="4" name="Shape 1"/>
          <p:cNvSpPr/>
          <p:nvPr/>
        </p:nvSpPr>
        <p:spPr>
          <a:xfrm>
            <a:off x="2096034" y="905256"/>
            <a:ext cx="914400" cy="274320"/>
          </a:xfrm>
          <a:prstGeom prst="roundRect">
            <a:avLst>
              <a:gd name="adj" fmla="val 20000"/>
            </a:avLst>
          </a:prstGeom>
          <a:solidFill>
            <a:srgbClr val="2E8B57"/>
          </a:solidFill>
          <a:ln w="12700">
            <a:solidFill>
              <a:srgbClr val="FFFFFF"/>
            </a:solidFill>
            <a:prstDash val="solid"/>
          </a:ln>
        </p:spPr>
      </p:sp>
      <p:sp>
        <p:nvSpPr>
          <p:cNvPr id="5" name="Text 2"/>
          <p:cNvSpPr txBox="1"/>
          <p:nvPr/>
        </p:nvSpPr>
        <p:spPr>
          <a:xfrm>
            <a:off x="2096034" y="905256"/>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Live</a:t>
            </a:r>
            <a:endParaRPr lang="en-US" sz="1000" dirty="0"/>
          </a:p>
        </p:txBody>
      </p:sp>
      <p:sp>
        <p:nvSpPr>
          <p:cNvPr id="6" name="Text 3"/>
          <p:cNvSpPr txBox="1"/>
          <p:nvPr/>
        </p:nvSpPr>
        <p:spPr>
          <a:xfrm>
            <a:off x="1566711" y="4325112"/>
            <a:ext cx="1973046" cy="4572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Scan the DN: next step opens by itself</a:t>
            </a:r>
            <a:endParaRPr lang="en-US" sz="1100" dirty="0"/>
          </a:p>
        </p:txBody>
      </p:sp>
      <p:pic>
        <p:nvPicPr>
          <p:cNvPr id="7" name="del-track-en.png" descr="/tmp/claude-0/sd/phones/del-track-en.png">    </p:cNvPr>
          <p:cNvPicPr>
            <a:picLocks noChangeAspect="1"/>
          </p:cNvPicPr>
          <p:nvPr/>
        </p:nvPicPr>
        <p:blipFill>
          <a:blip r:embed="rId2"/>
          <a:stretch>
            <a:fillRect/>
          </a:stretch>
        </p:blipFill>
        <p:spPr>
          <a:xfrm>
            <a:off x="3722637" y="1051560"/>
            <a:ext cx="1698726" cy="3200400"/>
          </a:xfrm>
          <a:prstGeom prst="rect">
            <a:avLst/>
          </a:prstGeom>
        </p:spPr>
      </p:pic>
      <p:sp>
        <p:nvSpPr>
          <p:cNvPr id="8" name="Shape 4"/>
          <p:cNvSpPr/>
          <p:nvPr/>
        </p:nvSpPr>
        <p:spPr>
          <a:xfrm>
            <a:off x="4114800" y="905256"/>
            <a:ext cx="914400" cy="274320"/>
          </a:xfrm>
          <a:prstGeom prst="roundRect">
            <a:avLst>
              <a:gd name="adj" fmla="val 20000"/>
            </a:avLst>
          </a:prstGeom>
          <a:solidFill>
            <a:srgbClr val="BF9000"/>
          </a:solidFill>
          <a:ln w="12700">
            <a:solidFill>
              <a:srgbClr val="FFFFFF"/>
            </a:solidFill>
            <a:prstDash val="solid"/>
          </a:ln>
        </p:spPr>
      </p:sp>
      <p:sp>
        <p:nvSpPr>
          <p:cNvPr id="9" name="Text 5"/>
          <p:cNvSpPr txBox="1"/>
          <p:nvPr/>
        </p:nvSpPr>
        <p:spPr>
          <a:xfrm>
            <a:off x="4114800" y="905256"/>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2027</a:t>
            </a:r>
            <a:endParaRPr lang="en-US" sz="1000" dirty="0"/>
          </a:p>
        </p:txBody>
      </p:sp>
      <p:sp>
        <p:nvSpPr>
          <p:cNvPr id="10" name="Text 6"/>
          <p:cNvSpPr txBox="1"/>
          <p:nvPr/>
        </p:nvSpPr>
        <p:spPr>
          <a:xfrm>
            <a:off x="3585477" y="4325112"/>
            <a:ext cx="1973046" cy="4572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Customer tracking link with ETA (3.2)</a:t>
            </a:r>
            <a:endParaRPr lang="en-US" sz="1100" dirty="0"/>
          </a:p>
        </p:txBody>
      </p:sp>
      <p:pic>
        <p:nvPicPr>
          <p:cNvPr id="11" name="del-kpi-en.png" descr="/tmp/claude-0/sd/phones/del-kpi-en.png">    </p:cNvPr>
          <p:cNvPicPr>
            <a:picLocks noChangeAspect="1"/>
          </p:cNvPicPr>
          <p:nvPr/>
        </p:nvPicPr>
        <p:blipFill>
          <a:blip r:embed="rId3"/>
          <a:stretch>
            <a:fillRect/>
          </a:stretch>
        </p:blipFill>
        <p:spPr>
          <a:xfrm>
            <a:off x="5741403" y="1051560"/>
            <a:ext cx="1698726" cy="3200400"/>
          </a:xfrm>
          <a:prstGeom prst="rect">
            <a:avLst/>
          </a:prstGeom>
        </p:spPr>
      </p:pic>
      <p:sp>
        <p:nvSpPr>
          <p:cNvPr id="12" name="Shape 7"/>
          <p:cNvSpPr/>
          <p:nvPr/>
        </p:nvSpPr>
        <p:spPr>
          <a:xfrm>
            <a:off x="6133566" y="905256"/>
            <a:ext cx="914400" cy="274320"/>
          </a:xfrm>
          <a:prstGeom prst="roundRect">
            <a:avLst>
              <a:gd name="adj" fmla="val 20000"/>
            </a:avLst>
          </a:prstGeom>
          <a:solidFill>
            <a:srgbClr val="BF9000"/>
          </a:solidFill>
          <a:ln w="12700">
            <a:solidFill>
              <a:srgbClr val="FFFFFF"/>
            </a:solidFill>
            <a:prstDash val="solid"/>
          </a:ln>
        </p:spPr>
      </p:sp>
      <p:sp>
        <p:nvSpPr>
          <p:cNvPr id="13" name="Text 8"/>
          <p:cNvSpPr txBox="1"/>
          <p:nvPr/>
        </p:nvSpPr>
        <p:spPr>
          <a:xfrm>
            <a:off x="6133566" y="905256"/>
            <a:ext cx="9144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2027</a:t>
            </a:r>
            <a:endParaRPr lang="en-US" sz="1000" dirty="0"/>
          </a:p>
        </p:txBody>
      </p:sp>
      <p:sp>
        <p:nvSpPr>
          <p:cNvPr id="14" name="Text 9"/>
          <p:cNvSpPr txBox="1"/>
          <p:nvPr/>
        </p:nvSpPr>
        <p:spPr>
          <a:xfrm>
            <a:off x="5604243" y="4325112"/>
            <a:ext cx="1973046" cy="457200"/>
          </a:xfrm>
          <a:prstGeom prst="rect">
            <a:avLst/>
          </a:prstGeom>
          <a:noFill/>
          <a:ln/>
        </p:spPr>
        <p:txBody>
          <a:bodyPr wrap="square" lIns="0" tIns="0" rIns="0" bIns="0" rtlCol="0" anchor="t"/>
          <a:lstStyle/>
          <a:p>
            <a:pPr algn="ctr" indent="0" marL="0">
              <a:buNone/>
            </a:pPr>
            <a:r>
              <a:rPr lang="en-US" sz="1100" b="1" dirty="0">
                <a:solidFill>
                  <a:srgbClr val="FFFFFF"/>
                </a:solidFill>
                <a:latin typeface="Arial" pitchFamily="34" charset="0"/>
                <a:ea typeface="Arial" pitchFamily="34" charset="-122"/>
                <a:cs typeface="Arial" pitchFamily="34" charset="-120"/>
              </a:rPr>
              <a:t>3PL scorecard: OTIF, POD, complaints (1.2)</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583680" cy="548640"/>
          </a:xfrm>
          <a:prstGeom prst="rect">
            <a:avLst/>
          </a:prstGeom>
          <a:noFill/>
          <a:ln/>
        </p:spPr>
        <p:txBody>
          <a:bodyPr wrap="square" lIns="0" tIns="0" rIns="0" bIns="0" rtlCol="0" anchor="ctr"/>
          <a:lstStyle/>
          <a:p>
            <a:pPr algn="l" indent="0" marL="0">
              <a:buNone/>
            </a:pPr>
            <a:r>
              <a:rPr lang="en-US" sz="2600" b="1" dirty="0">
                <a:solidFill>
                  <a:srgbClr val="F2F2F2"/>
                </a:solidFill>
                <a:latin typeface="Arial" pitchFamily="34" charset="0"/>
                <a:ea typeface="Arial" pitchFamily="34" charset="-122"/>
                <a:cs typeface="Arial" pitchFamily="34" charset="-120"/>
              </a:rPr>
              <a:t>3.2 Live Delivery: how we will measure it</a:t>
            </a:r>
            <a:endParaRPr lang="en-US" sz="2600" dirty="0"/>
          </a:p>
        </p:txBody>
      </p:sp>
      <p:sp>
        <p:nvSpPr>
          <p:cNvPr id="3" name="Shape 1"/>
          <p:cNvSpPr/>
          <p:nvPr/>
        </p:nvSpPr>
        <p:spPr>
          <a:xfrm>
            <a:off x="457200" y="1051560"/>
            <a:ext cx="4023360" cy="1508760"/>
          </a:xfrm>
          <a:prstGeom prst="roundRect">
            <a:avLst>
              <a:gd name="adj" fmla="val 6061"/>
            </a:avLst>
          </a:prstGeom>
          <a:solidFill>
            <a:srgbClr val="14305C"/>
          </a:solidFill>
          <a:ln w="12700">
            <a:solidFill>
              <a:srgbClr val="14305C"/>
            </a:solidFill>
            <a:prstDash val="solid"/>
          </a:ln>
        </p:spPr>
      </p:sp>
      <p:sp>
        <p:nvSpPr>
          <p:cNvPr id="4" name="Text 2"/>
          <p:cNvSpPr txBox="1"/>
          <p:nvPr/>
        </p:nvSpPr>
        <p:spPr>
          <a:xfrm>
            <a:off x="685800" y="1234440"/>
            <a:ext cx="1645920" cy="1097280"/>
          </a:xfrm>
          <a:prstGeom prst="rect">
            <a:avLst/>
          </a:prstGeom>
          <a:noFill/>
          <a:ln/>
        </p:spPr>
        <p:txBody>
          <a:bodyPr wrap="square" lIns="0" tIns="0" rIns="0" bIns="0" rtlCol="0" anchor="ctr"/>
          <a:lstStyle/>
          <a:p>
            <a:pPr indent="0" marL="0">
              <a:buNone/>
            </a:pPr>
            <a:r>
              <a:rPr lang="en-US" sz="3200" b="1" dirty="0">
                <a:solidFill>
                  <a:srgbClr val="E8A33D"/>
                </a:solidFill>
                <a:latin typeface="Arial" pitchFamily="34" charset="0"/>
                <a:ea typeface="Arial" pitchFamily="34" charset="-122"/>
                <a:cs typeface="Arial" pitchFamily="34" charset="-120"/>
              </a:rPr>
              <a:t>0 days</a:t>
            </a:r>
            <a:endParaRPr lang="en-US" sz="3200" dirty="0"/>
          </a:p>
        </p:txBody>
      </p:sp>
      <p:sp>
        <p:nvSpPr>
          <p:cNvPr id="5" name="Text 3"/>
          <p:cNvSpPr txBox="1"/>
          <p:nvPr/>
        </p:nvSpPr>
        <p:spPr>
          <a:xfrm>
            <a:off x="2377440" y="1234440"/>
            <a:ext cx="1920240" cy="114300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Arial" pitchFamily="34" charset="0"/>
                <a:ea typeface="Arial" pitchFamily="34" charset="-122"/>
                <a:cs typeface="Arial" pitchFamily="34" charset="-120"/>
              </a:rPr>
              <a:t>order capture to stock commit in SAP</a:t>
            </a:r>
            <a:endParaRPr lang="en-US" sz="1300" dirty="0"/>
          </a:p>
          <a:p>
            <a:pPr indent="0" marL="0">
              <a:spcAft>
                <a:spcPts val="400"/>
              </a:spcAft>
              <a:buNone/>
            </a:pPr>
            <a:r>
              <a:rPr lang="en-US" sz="1100" dirty="0">
                <a:solidFill>
                  <a:srgbClr val="B8C4DA"/>
                </a:solidFill>
                <a:latin typeface="Arial" pitchFamily="34" charset="0"/>
                <a:ea typeface="Arial" pitchFamily="34" charset="-122"/>
                <a:cs typeface="Arial" pitchFamily="34" charset="-120"/>
              </a:rPr>
              <a:t>from Jun 2027 (today 2–3 days)</a:t>
            </a:r>
            <a:endParaRPr lang="en-US" sz="1300" dirty="0"/>
          </a:p>
        </p:txBody>
      </p:sp>
      <p:sp>
        <p:nvSpPr>
          <p:cNvPr id="6" name="Shape 4"/>
          <p:cNvSpPr/>
          <p:nvPr/>
        </p:nvSpPr>
        <p:spPr>
          <a:xfrm>
            <a:off x="4617720" y="1051560"/>
            <a:ext cx="4023360" cy="1508760"/>
          </a:xfrm>
          <a:prstGeom prst="roundRect">
            <a:avLst>
              <a:gd name="adj" fmla="val 6061"/>
            </a:avLst>
          </a:prstGeom>
          <a:solidFill>
            <a:srgbClr val="14305C"/>
          </a:solidFill>
          <a:ln w="12700">
            <a:solidFill>
              <a:srgbClr val="14305C"/>
            </a:solidFill>
            <a:prstDash val="solid"/>
          </a:ln>
        </p:spPr>
      </p:sp>
      <p:sp>
        <p:nvSpPr>
          <p:cNvPr id="7" name="Text 5"/>
          <p:cNvSpPr txBox="1"/>
          <p:nvPr/>
        </p:nvSpPr>
        <p:spPr>
          <a:xfrm>
            <a:off x="4846320" y="1234440"/>
            <a:ext cx="1645920" cy="1097280"/>
          </a:xfrm>
          <a:prstGeom prst="rect">
            <a:avLst/>
          </a:prstGeom>
          <a:noFill/>
          <a:ln/>
        </p:spPr>
        <p:txBody>
          <a:bodyPr wrap="square" lIns="0" tIns="0" rIns="0" bIns="0" rtlCol="0" anchor="ctr"/>
          <a:lstStyle/>
          <a:p>
            <a:pPr indent="0" marL="0">
              <a:buNone/>
            </a:pPr>
            <a:r>
              <a:rPr lang="en-US" sz="3200" b="1" dirty="0">
                <a:solidFill>
                  <a:srgbClr val="E8A33D"/>
                </a:solidFill>
                <a:latin typeface="Arial" pitchFamily="34" charset="0"/>
                <a:ea typeface="Arial" pitchFamily="34" charset="-122"/>
                <a:cs typeface="Arial" pitchFamily="34" charset="-120"/>
              </a:rPr>
              <a:t>100%</a:t>
            </a:r>
            <a:endParaRPr lang="en-US" sz="3200" dirty="0"/>
          </a:p>
        </p:txBody>
      </p:sp>
      <p:sp>
        <p:nvSpPr>
          <p:cNvPr id="8" name="Text 6"/>
          <p:cNvSpPr txBox="1"/>
          <p:nvPr/>
        </p:nvSpPr>
        <p:spPr>
          <a:xfrm>
            <a:off x="6537960" y="1234440"/>
            <a:ext cx="1920240" cy="114300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Arial" pitchFamily="34" charset="0"/>
                <a:ea typeface="Arial" pitchFamily="34" charset="-122"/>
                <a:cs typeface="Arial" pitchFamily="34" charset="-120"/>
              </a:rPr>
              <a:t>deliveries with digital proof of delivery</a:t>
            </a:r>
            <a:endParaRPr lang="en-US" sz="1300" dirty="0"/>
          </a:p>
          <a:p>
            <a:pPr indent="0" marL="0">
              <a:spcAft>
                <a:spcPts val="400"/>
              </a:spcAft>
              <a:buNone/>
            </a:pPr>
            <a:r>
              <a:rPr lang="en-US" sz="1100" dirty="0">
                <a:solidFill>
                  <a:srgbClr val="B8C4DA"/>
                </a:solidFill>
                <a:latin typeface="Arial" pitchFamily="34" charset="0"/>
                <a:ea typeface="Arial" pitchFamily="34" charset="-122"/>
                <a:cs typeface="Arial" pitchFamily="34" charset="-120"/>
              </a:rPr>
              <a:t>by Sep 2027</a:t>
            </a:r>
            <a:endParaRPr lang="en-US" sz="1300" dirty="0"/>
          </a:p>
        </p:txBody>
      </p:sp>
      <p:sp>
        <p:nvSpPr>
          <p:cNvPr id="9" name="Shape 7"/>
          <p:cNvSpPr/>
          <p:nvPr/>
        </p:nvSpPr>
        <p:spPr>
          <a:xfrm>
            <a:off x="457200" y="2743200"/>
            <a:ext cx="4023360" cy="1508760"/>
          </a:xfrm>
          <a:prstGeom prst="roundRect">
            <a:avLst>
              <a:gd name="adj" fmla="val 6061"/>
            </a:avLst>
          </a:prstGeom>
          <a:solidFill>
            <a:srgbClr val="14305C"/>
          </a:solidFill>
          <a:ln w="12700">
            <a:solidFill>
              <a:srgbClr val="14305C"/>
            </a:solidFill>
            <a:prstDash val="solid"/>
          </a:ln>
        </p:spPr>
      </p:sp>
      <p:sp>
        <p:nvSpPr>
          <p:cNvPr id="10" name="Text 8"/>
          <p:cNvSpPr txBox="1"/>
          <p:nvPr/>
        </p:nvSpPr>
        <p:spPr>
          <a:xfrm>
            <a:off x="685800" y="2926080"/>
            <a:ext cx="1645920" cy="1097280"/>
          </a:xfrm>
          <a:prstGeom prst="rect">
            <a:avLst/>
          </a:prstGeom>
          <a:noFill/>
          <a:ln/>
        </p:spPr>
        <p:txBody>
          <a:bodyPr wrap="square" lIns="0" tIns="0" rIns="0" bIns="0" rtlCol="0" anchor="ctr"/>
          <a:lstStyle/>
          <a:p>
            <a:pPr indent="0" marL="0">
              <a:buNone/>
            </a:pPr>
            <a:r>
              <a:rPr lang="en-US" sz="3200" b="1" dirty="0">
                <a:solidFill>
                  <a:srgbClr val="E8A33D"/>
                </a:solidFill>
                <a:latin typeface="Arial" pitchFamily="34" charset="0"/>
                <a:ea typeface="Arial" pitchFamily="34" charset="-122"/>
                <a:cs typeface="Arial" pitchFamily="34" charset="-120"/>
              </a:rPr>
              <a:t>100%</a:t>
            </a:r>
            <a:endParaRPr lang="en-US" sz="3200" dirty="0"/>
          </a:p>
        </p:txBody>
      </p:sp>
      <p:sp>
        <p:nvSpPr>
          <p:cNvPr id="11" name="Text 9"/>
          <p:cNvSpPr txBox="1"/>
          <p:nvPr/>
        </p:nvSpPr>
        <p:spPr>
          <a:xfrm>
            <a:off x="2377440" y="2926080"/>
            <a:ext cx="1920240" cy="114300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Arial" pitchFamily="34" charset="0"/>
                <a:ea typeface="Arial" pitchFamily="34" charset="-122"/>
                <a:cs typeface="Arial" pitchFamily="34" charset="-120"/>
              </a:rPr>
              <a:t>deliveries send the customer a live tracking link at Gate Out</a:t>
            </a:r>
            <a:endParaRPr lang="en-US" sz="1300" dirty="0"/>
          </a:p>
          <a:p>
            <a:pPr indent="0" marL="0">
              <a:spcAft>
                <a:spcPts val="400"/>
              </a:spcAft>
              <a:buNone/>
            </a:pPr>
            <a:r>
              <a:rPr lang="en-US" sz="1100" dirty="0">
                <a:solidFill>
                  <a:srgbClr val="B8C4DA"/>
                </a:solidFill>
                <a:latin typeface="Arial" pitchFamily="34" charset="0"/>
                <a:ea typeface="Arial" pitchFamily="34" charset="-122"/>
                <a:cs typeface="Arial" pitchFamily="34" charset="-120"/>
              </a:rPr>
              <a:t>by Sep 2027</a:t>
            </a:r>
            <a:endParaRPr lang="en-US" sz="1300" dirty="0"/>
          </a:p>
        </p:txBody>
      </p:sp>
      <p:sp>
        <p:nvSpPr>
          <p:cNvPr id="12" name="Shape 10"/>
          <p:cNvSpPr/>
          <p:nvPr/>
        </p:nvSpPr>
        <p:spPr>
          <a:xfrm>
            <a:off x="4617720" y="2743200"/>
            <a:ext cx="4023360" cy="1508760"/>
          </a:xfrm>
          <a:prstGeom prst="roundRect">
            <a:avLst>
              <a:gd name="adj" fmla="val 6061"/>
            </a:avLst>
          </a:prstGeom>
          <a:solidFill>
            <a:srgbClr val="14305C"/>
          </a:solidFill>
          <a:ln w="12700">
            <a:solidFill>
              <a:srgbClr val="14305C"/>
            </a:solidFill>
            <a:prstDash val="solid"/>
          </a:ln>
        </p:spPr>
      </p:sp>
      <p:sp>
        <p:nvSpPr>
          <p:cNvPr id="13" name="Text 11"/>
          <p:cNvSpPr txBox="1"/>
          <p:nvPr/>
        </p:nvSpPr>
        <p:spPr>
          <a:xfrm>
            <a:off x="4846320" y="2926080"/>
            <a:ext cx="1645920" cy="1097280"/>
          </a:xfrm>
          <a:prstGeom prst="rect">
            <a:avLst/>
          </a:prstGeom>
          <a:noFill/>
          <a:ln/>
        </p:spPr>
        <p:txBody>
          <a:bodyPr wrap="square" lIns="0" tIns="0" rIns="0" bIns="0" rtlCol="0" anchor="ctr"/>
          <a:lstStyle/>
          <a:p>
            <a:pPr indent="0" marL="0">
              <a:buNone/>
            </a:pPr>
            <a:r>
              <a:rPr lang="en-US" sz="3200" b="1" dirty="0">
                <a:solidFill>
                  <a:srgbClr val="E8A33D"/>
                </a:solidFill>
                <a:latin typeface="Arial" pitchFamily="34" charset="0"/>
                <a:ea typeface="Arial" pitchFamily="34" charset="-122"/>
                <a:cs typeface="Arial" pitchFamily="34" charset="-120"/>
              </a:rPr>
              <a:t>−50%</a:t>
            </a:r>
            <a:endParaRPr lang="en-US" sz="3200" dirty="0"/>
          </a:p>
        </p:txBody>
      </p:sp>
      <p:sp>
        <p:nvSpPr>
          <p:cNvPr id="14" name="Text 12"/>
          <p:cNvSpPr txBox="1"/>
          <p:nvPr/>
        </p:nvSpPr>
        <p:spPr>
          <a:xfrm>
            <a:off x="6537960" y="2926080"/>
            <a:ext cx="1920240" cy="1143000"/>
          </a:xfrm>
          <a:prstGeom prst="rect">
            <a:avLst/>
          </a:prstGeom>
          <a:noFill/>
          <a:ln/>
        </p:spPr>
        <p:txBody>
          <a:bodyPr wrap="square" lIns="0" tIns="0" rIns="0" bIns="0" rtlCol="0" anchor="ctr"/>
          <a:lstStyle/>
          <a:p>
            <a:pPr indent="0" marL="0">
              <a:spcAft>
                <a:spcPts val="400"/>
              </a:spcAft>
              <a:buNone/>
            </a:pPr>
            <a:r>
              <a:rPr lang="en-US" sz="1300" b="1" dirty="0">
                <a:solidFill>
                  <a:srgbClr val="FFFFFF"/>
                </a:solidFill>
                <a:latin typeface="Arial" pitchFamily="34" charset="0"/>
                <a:ea typeface="Arial" pitchFamily="34" charset="-122"/>
                <a:cs typeface="Arial" pitchFamily="34" charset="-120"/>
              </a:rPr>
              <a:t>customer calls to Sales asking for delivery status</a:t>
            </a:r>
            <a:endParaRPr lang="en-US" sz="1300" dirty="0"/>
          </a:p>
          <a:p>
            <a:pPr indent="0" marL="0">
              <a:spcAft>
                <a:spcPts val="400"/>
              </a:spcAft>
              <a:buNone/>
            </a:pPr>
            <a:r>
              <a:rPr lang="en-US" sz="1100" dirty="0">
                <a:solidFill>
                  <a:srgbClr val="B8C4DA"/>
                </a:solidFill>
                <a:latin typeface="Arial" pitchFamily="34" charset="0"/>
                <a:ea typeface="Arial" pitchFamily="34" charset="-122"/>
                <a:cs typeface="Arial" pitchFamily="34" charset="-120"/>
              </a:rPr>
              <a:t>vs Q4 2026</a:t>
            </a:r>
            <a:endParaRPr lang="en-US" sz="1300" dirty="0"/>
          </a:p>
        </p:txBody>
      </p:sp>
      <p:sp>
        <p:nvSpPr>
          <p:cNvPr id="15" name="Text 13"/>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B8C4DA"/>
                </a:solidFill>
                <a:latin typeface="Arial" pitchFamily="34" charset="0"/>
                <a:ea typeface="Arial" pitchFamily="34" charset="-122"/>
                <a:cs typeface="Arial" pitchFamily="34" charset="-120"/>
              </a:rPr>
              <a:t>Baseline for customer status calls to be counted by Sales in Q4 2026.</a:t>
            </a:r>
            <a:endParaRPr lang="en-US" sz="1100" dirty="0"/>
          </a:p>
        </p:txBody>
      </p:sp>
      <p:sp>
        <p:nvSpPr>
          <p:cNvPr id="25" name="Slide Number Placeholder 0"/>
          <p:cNvSpPr>
            <a:spLocks noGrp="1"/>
          </p:cNvSpPr>
          <p:nvPr>
            <p:ph type="sldNum" sz="quarter" idx="4294967295"/>
          </p:nvPr>
        </p:nvSpPr>
        <p:spPr>
          <a:xfrm>
            <a:off x="8229600" y="477316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0C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2027 roadmap</a:t>
            </a:r>
            <a:endParaRPr lang="en-US" sz="2000" dirty="0"/>
          </a:p>
        </p:txBody>
      </p:sp>
      <p:sp>
        <p:nvSpPr>
          <p:cNvPr id="3" name="Shape 1"/>
          <p:cNvSpPr/>
          <p:nvPr/>
        </p:nvSpPr>
        <p:spPr>
          <a:xfrm>
            <a:off x="2331720" y="914400"/>
            <a:ext cx="537210" cy="292608"/>
          </a:xfrm>
          <a:prstGeom prst="rect">
            <a:avLst/>
          </a:prstGeom>
          <a:solidFill>
            <a:srgbClr val="011E41"/>
          </a:solidFill>
          <a:ln w="9525">
            <a:solidFill>
              <a:srgbClr val="E1E6EF"/>
            </a:solidFill>
            <a:prstDash val="solid"/>
          </a:ln>
        </p:spPr>
      </p:sp>
      <p:sp>
        <p:nvSpPr>
          <p:cNvPr id="4" name="Text 2"/>
          <p:cNvSpPr txBox="1"/>
          <p:nvPr/>
        </p:nvSpPr>
        <p:spPr>
          <a:xfrm>
            <a:off x="233172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Jan</a:t>
            </a:r>
            <a:endParaRPr lang="en-US" sz="1000" dirty="0"/>
          </a:p>
        </p:txBody>
      </p:sp>
      <p:sp>
        <p:nvSpPr>
          <p:cNvPr id="5" name="Shape 3"/>
          <p:cNvSpPr/>
          <p:nvPr/>
        </p:nvSpPr>
        <p:spPr>
          <a:xfrm>
            <a:off x="2868930" y="914400"/>
            <a:ext cx="537210" cy="292608"/>
          </a:xfrm>
          <a:prstGeom prst="rect">
            <a:avLst/>
          </a:prstGeom>
          <a:solidFill>
            <a:srgbClr val="011E41"/>
          </a:solidFill>
          <a:ln w="9525">
            <a:solidFill>
              <a:srgbClr val="E1E6EF"/>
            </a:solidFill>
            <a:prstDash val="solid"/>
          </a:ln>
        </p:spPr>
      </p:sp>
      <p:sp>
        <p:nvSpPr>
          <p:cNvPr id="6" name="Text 4"/>
          <p:cNvSpPr txBox="1"/>
          <p:nvPr/>
        </p:nvSpPr>
        <p:spPr>
          <a:xfrm>
            <a:off x="286893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Feb</a:t>
            </a:r>
            <a:endParaRPr lang="en-US" sz="1000" dirty="0"/>
          </a:p>
        </p:txBody>
      </p:sp>
      <p:sp>
        <p:nvSpPr>
          <p:cNvPr id="7" name="Shape 5"/>
          <p:cNvSpPr/>
          <p:nvPr/>
        </p:nvSpPr>
        <p:spPr>
          <a:xfrm>
            <a:off x="3406140" y="914400"/>
            <a:ext cx="537210" cy="292608"/>
          </a:xfrm>
          <a:prstGeom prst="rect">
            <a:avLst/>
          </a:prstGeom>
          <a:solidFill>
            <a:srgbClr val="011E41"/>
          </a:solidFill>
          <a:ln w="9525">
            <a:solidFill>
              <a:srgbClr val="E1E6EF"/>
            </a:solidFill>
            <a:prstDash val="solid"/>
          </a:ln>
        </p:spPr>
      </p:sp>
      <p:sp>
        <p:nvSpPr>
          <p:cNvPr id="8" name="Text 6"/>
          <p:cNvSpPr txBox="1"/>
          <p:nvPr/>
        </p:nvSpPr>
        <p:spPr>
          <a:xfrm>
            <a:off x="340614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Mar</a:t>
            </a:r>
            <a:endParaRPr lang="en-US" sz="1000" dirty="0"/>
          </a:p>
        </p:txBody>
      </p:sp>
      <p:sp>
        <p:nvSpPr>
          <p:cNvPr id="9" name="Shape 7"/>
          <p:cNvSpPr/>
          <p:nvPr/>
        </p:nvSpPr>
        <p:spPr>
          <a:xfrm>
            <a:off x="3943350" y="914400"/>
            <a:ext cx="537210" cy="292608"/>
          </a:xfrm>
          <a:prstGeom prst="rect">
            <a:avLst/>
          </a:prstGeom>
          <a:solidFill>
            <a:srgbClr val="011E41"/>
          </a:solidFill>
          <a:ln w="9525">
            <a:solidFill>
              <a:srgbClr val="E1E6EF"/>
            </a:solidFill>
            <a:prstDash val="solid"/>
          </a:ln>
        </p:spPr>
      </p:sp>
      <p:sp>
        <p:nvSpPr>
          <p:cNvPr id="10" name="Text 8"/>
          <p:cNvSpPr txBox="1"/>
          <p:nvPr/>
        </p:nvSpPr>
        <p:spPr>
          <a:xfrm>
            <a:off x="394335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Apr</a:t>
            </a:r>
            <a:endParaRPr lang="en-US" sz="1000" dirty="0"/>
          </a:p>
        </p:txBody>
      </p:sp>
      <p:sp>
        <p:nvSpPr>
          <p:cNvPr id="11" name="Shape 9"/>
          <p:cNvSpPr/>
          <p:nvPr/>
        </p:nvSpPr>
        <p:spPr>
          <a:xfrm>
            <a:off x="4480560" y="914400"/>
            <a:ext cx="537210" cy="292608"/>
          </a:xfrm>
          <a:prstGeom prst="rect">
            <a:avLst/>
          </a:prstGeom>
          <a:solidFill>
            <a:srgbClr val="011E41"/>
          </a:solidFill>
          <a:ln w="9525">
            <a:solidFill>
              <a:srgbClr val="E1E6EF"/>
            </a:solidFill>
            <a:prstDash val="solid"/>
          </a:ln>
        </p:spPr>
      </p:sp>
      <p:sp>
        <p:nvSpPr>
          <p:cNvPr id="12" name="Text 10"/>
          <p:cNvSpPr txBox="1"/>
          <p:nvPr/>
        </p:nvSpPr>
        <p:spPr>
          <a:xfrm>
            <a:off x="448056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May</a:t>
            </a:r>
            <a:endParaRPr lang="en-US" sz="1000" dirty="0"/>
          </a:p>
        </p:txBody>
      </p:sp>
      <p:sp>
        <p:nvSpPr>
          <p:cNvPr id="13" name="Shape 11"/>
          <p:cNvSpPr/>
          <p:nvPr/>
        </p:nvSpPr>
        <p:spPr>
          <a:xfrm>
            <a:off x="5017770" y="914400"/>
            <a:ext cx="537210" cy="292608"/>
          </a:xfrm>
          <a:prstGeom prst="rect">
            <a:avLst/>
          </a:prstGeom>
          <a:solidFill>
            <a:srgbClr val="011E41"/>
          </a:solidFill>
          <a:ln w="9525">
            <a:solidFill>
              <a:srgbClr val="E1E6EF"/>
            </a:solidFill>
            <a:prstDash val="solid"/>
          </a:ln>
        </p:spPr>
      </p:sp>
      <p:sp>
        <p:nvSpPr>
          <p:cNvPr id="14" name="Text 12"/>
          <p:cNvSpPr txBox="1"/>
          <p:nvPr/>
        </p:nvSpPr>
        <p:spPr>
          <a:xfrm>
            <a:off x="501777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Jun</a:t>
            </a:r>
            <a:endParaRPr lang="en-US" sz="1000" dirty="0"/>
          </a:p>
        </p:txBody>
      </p:sp>
      <p:sp>
        <p:nvSpPr>
          <p:cNvPr id="15" name="Shape 13"/>
          <p:cNvSpPr/>
          <p:nvPr/>
        </p:nvSpPr>
        <p:spPr>
          <a:xfrm>
            <a:off x="5554980" y="914400"/>
            <a:ext cx="537210" cy="292608"/>
          </a:xfrm>
          <a:prstGeom prst="rect">
            <a:avLst/>
          </a:prstGeom>
          <a:solidFill>
            <a:srgbClr val="011E41"/>
          </a:solidFill>
          <a:ln w="9525">
            <a:solidFill>
              <a:srgbClr val="E1E6EF"/>
            </a:solidFill>
            <a:prstDash val="solid"/>
          </a:ln>
        </p:spPr>
      </p:sp>
      <p:sp>
        <p:nvSpPr>
          <p:cNvPr id="16" name="Text 14"/>
          <p:cNvSpPr txBox="1"/>
          <p:nvPr/>
        </p:nvSpPr>
        <p:spPr>
          <a:xfrm>
            <a:off x="555498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Jul</a:t>
            </a:r>
            <a:endParaRPr lang="en-US" sz="1000" dirty="0"/>
          </a:p>
        </p:txBody>
      </p:sp>
      <p:sp>
        <p:nvSpPr>
          <p:cNvPr id="17" name="Shape 15"/>
          <p:cNvSpPr/>
          <p:nvPr/>
        </p:nvSpPr>
        <p:spPr>
          <a:xfrm>
            <a:off x="6092190" y="914400"/>
            <a:ext cx="537210" cy="292608"/>
          </a:xfrm>
          <a:prstGeom prst="rect">
            <a:avLst/>
          </a:prstGeom>
          <a:solidFill>
            <a:srgbClr val="011E41"/>
          </a:solidFill>
          <a:ln w="9525">
            <a:solidFill>
              <a:srgbClr val="E1E6EF"/>
            </a:solidFill>
            <a:prstDash val="solid"/>
          </a:ln>
        </p:spPr>
      </p:sp>
      <p:sp>
        <p:nvSpPr>
          <p:cNvPr id="18" name="Text 16"/>
          <p:cNvSpPr txBox="1"/>
          <p:nvPr/>
        </p:nvSpPr>
        <p:spPr>
          <a:xfrm>
            <a:off x="609219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Aug</a:t>
            </a:r>
            <a:endParaRPr lang="en-US" sz="1000" dirty="0"/>
          </a:p>
        </p:txBody>
      </p:sp>
      <p:sp>
        <p:nvSpPr>
          <p:cNvPr id="19" name="Shape 17"/>
          <p:cNvSpPr/>
          <p:nvPr/>
        </p:nvSpPr>
        <p:spPr>
          <a:xfrm>
            <a:off x="6629400" y="914400"/>
            <a:ext cx="537210" cy="292608"/>
          </a:xfrm>
          <a:prstGeom prst="rect">
            <a:avLst/>
          </a:prstGeom>
          <a:solidFill>
            <a:srgbClr val="E8A33D"/>
          </a:solidFill>
          <a:ln w="9525">
            <a:solidFill>
              <a:srgbClr val="E1E6EF"/>
            </a:solidFill>
            <a:prstDash val="solid"/>
          </a:ln>
        </p:spPr>
      </p:sp>
      <p:sp>
        <p:nvSpPr>
          <p:cNvPr id="20" name="Text 18"/>
          <p:cNvSpPr txBox="1"/>
          <p:nvPr/>
        </p:nvSpPr>
        <p:spPr>
          <a:xfrm>
            <a:off x="662940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Sep</a:t>
            </a:r>
            <a:endParaRPr lang="en-US" sz="1000" dirty="0"/>
          </a:p>
        </p:txBody>
      </p:sp>
      <p:sp>
        <p:nvSpPr>
          <p:cNvPr id="21" name="Shape 19"/>
          <p:cNvSpPr/>
          <p:nvPr/>
        </p:nvSpPr>
        <p:spPr>
          <a:xfrm>
            <a:off x="7166610" y="914400"/>
            <a:ext cx="537210" cy="292608"/>
          </a:xfrm>
          <a:prstGeom prst="rect">
            <a:avLst/>
          </a:prstGeom>
          <a:solidFill>
            <a:srgbClr val="011E41"/>
          </a:solidFill>
          <a:ln w="9525">
            <a:solidFill>
              <a:srgbClr val="E1E6EF"/>
            </a:solidFill>
            <a:prstDash val="solid"/>
          </a:ln>
        </p:spPr>
      </p:sp>
      <p:sp>
        <p:nvSpPr>
          <p:cNvPr id="22" name="Text 20"/>
          <p:cNvSpPr txBox="1"/>
          <p:nvPr/>
        </p:nvSpPr>
        <p:spPr>
          <a:xfrm>
            <a:off x="716661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Oct</a:t>
            </a:r>
            <a:endParaRPr lang="en-US" sz="1000" dirty="0"/>
          </a:p>
        </p:txBody>
      </p:sp>
      <p:sp>
        <p:nvSpPr>
          <p:cNvPr id="23" name="Shape 21"/>
          <p:cNvSpPr/>
          <p:nvPr/>
        </p:nvSpPr>
        <p:spPr>
          <a:xfrm>
            <a:off x="7703820" y="914400"/>
            <a:ext cx="537210" cy="292608"/>
          </a:xfrm>
          <a:prstGeom prst="rect">
            <a:avLst/>
          </a:prstGeom>
          <a:solidFill>
            <a:srgbClr val="011E41"/>
          </a:solidFill>
          <a:ln w="9525">
            <a:solidFill>
              <a:srgbClr val="E1E6EF"/>
            </a:solidFill>
            <a:prstDash val="solid"/>
          </a:ln>
        </p:spPr>
      </p:sp>
      <p:sp>
        <p:nvSpPr>
          <p:cNvPr id="24" name="Text 22"/>
          <p:cNvSpPr txBox="1"/>
          <p:nvPr/>
        </p:nvSpPr>
        <p:spPr>
          <a:xfrm>
            <a:off x="770382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Nov</a:t>
            </a:r>
            <a:endParaRPr lang="en-US" sz="1000" dirty="0"/>
          </a:p>
        </p:txBody>
      </p:sp>
      <p:sp>
        <p:nvSpPr>
          <p:cNvPr id="25" name="Shape 23"/>
          <p:cNvSpPr/>
          <p:nvPr/>
        </p:nvSpPr>
        <p:spPr>
          <a:xfrm>
            <a:off x="8241030" y="914400"/>
            <a:ext cx="537210" cy="292608"/>
          </a:xfrm>
          <a:prstGeom prst="rect">
            <a:avLst/>
          </a:prstGeom>
          <a:solidFill>
            <a:srgbClr val="011E41"/>
          </a:solidFill>
          <a:ln w="9525">
            <a:solidFill>
              <a:srgbClr val="E1E6EF"/>
            </a:solidFill>
            <a:prstDash val="solid"/>
          </a:ln>
        </p:spPr>
      </p:sp>
      <p:sp>
        <p:nvSpPr>
          <p:cNvPr id="26" name="Text 24"/>
          <p:cNvSpPr txBox="1"/>
          <p:nvPr/>
        </p:nvSpPr>
        <p:spPr>
          <a:xfrm>
            <a:off x="8241030" y="914400"/>
            <a:ext cx="53721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Dec</a:t>
            </a:r>
            <a:endParaRPr lang="en-US" sz="1000" dirty="0"/>
          </a:p>
        </p:txBody>
      </p:sp>
      <p:sp>
        <p:nvSpPr>
          <p:cNvPr id="27" name="Text 25"/>
          <p:cNvSpPr txBox="1"/>
          <p:nvPr/>
        </p:nvSpPr>
        <p:spPr>
          <a:xfrm>
            <a:off x="365760" y="1371600"/>
            <a:ext cx="1874520" cy="5029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1.1 Regional DCs</a:t>
            </a:r>
            <a:endParaRPr lang="en-US" sz="1200" dirty="0"/>
          </a:p>
        </p:txBody>
      </p:sp>
      <p:sp>
        <p:nvSpPr>
          <p:cNvPr id="28" name="Shape 26"/>
          <p:cNvSpPr/>
          <p:nvPr/>
        </p:nvSpPr>
        <p:spPr>
          <a:xfrm>
            <a:off x="2331720" y="1335024"/>
            <a:ext cx="6446520" cy="576072"/>
          </a:xfrm>
          <a:prstGeom prst="rect">
            <a:avLst/>
          </a:prstGeom>
          <a:solidFill>
            <a:srgbClr val="FFFFFF"/>
          </a:solidFill>
          <a:ln w="12700">
            <a:solidFill>
              <a:srgbClr val="E1E6EF"/>
            </a:solidFill>
            <a:prstDash val="solid"/>
          </a:ln>
        </p:spPr>
      </p:sp>
      <p:sp>
        <p:nvSpPr>
          <p:cNvPr id="29" name="Shape 27"/>
          <p:cNvSpPr/>
          <p:nvPr/>
        </p:nvSpPr>
        <p:spPr>
          <a:xfrm>
            <a:off x="2359152" y="1426464"/>
            <a:ext cx="1019556" cy="393192"/>
          </a:xfrm>
          <a:prstGeom prst="roundRect">
            <a:avLst>
              <a:gd name="adj" fmla="val 11628"/>
            </a:avLst>
          </a:prstGeom>
          <a:solidFill>
            <a:srgbClr val="BF9000"/>
          </a:solidFill>
          <a:ln w="12700">
            <a:solidFill>
              <a:srgbClr val="BF9000"/>
            </a:solidFill>
            <a:prstDash val="solid"/>
          </a:ln>
        </p:spPr>
      </p:sp>
      <p:sp>
        <p:nvSpPr>
          <p:cNvPr id="30" name="Text 28"/>
          <p:cNvSpPr txBox="1"/>
          <p:nvPr/>
        </p:nvSpPr>
        <p:spPr>
          <a:xfrm>
            <a:off x="2386584" y="1426464"/>
            <a:ext cx="96469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Network study</a:t>
            </a:r>
            <a:endParaRPr lang="en-US" sz="950" dirty="0"/>
          </a:p>
        </p:txBody>
      </p:sp>
      <p:sp>
        <p:nvSpPr>
          <p:cNvPr id="31" name="Shape 29"/>
          <p:cNvSpPr/>
          <p:nvPr/>
        </p:nvSpPr>
        <p:spPr>
          <a:xfrm>
            <a:off x="4507992" y="1426464"/>
            <a:ext cx="482346" cy="393192"/>
          </a:xfrm>
          <a:prstGeom prst="roundRect">
            <a:avLst>
              <a:gd name="adj" fmla="val 11628"/>
            </a:avLst>
          </a:prstGeom>
          <a:solidFill>
            <a:srgbClr val="BF9000"/>
          </a:solidFill>
          <a:ln w="12700">
            <a:solidFill>
              <a:srgbClr val="BF9000"/>
            </a:solidFill>
            <a:prstDash val="solid"/>
          </a:ln>
        </p:spPr>
      </p:sp>
      <p:sp>
        <p:nvSpPr>
          <p:cNvPr id="32" name="Text 30"/>
          <p:cNvSpPr txBox="1"/>
          <p:nvPr/>
        </p:nvSpPr>
        <p:spPr>
          <a:xfrm>
            <a:off x="4535424" y="1426464"/>
            <a:ext cx="42748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Gate</a:t>
            </a:r>
            <a:endParaRPr lang="en-US" sz="950" dirty="0"/>
          </a:p>
        </p:txBody>
      </p:sp>
      <p:sp>
        <p:nvSpPr>
          <p:cNvPr id="33" name="Shape 31"/>
          <p:cNvSpPr/>
          <p:nvPr/>
        </p:nvSpPr>
        <p:spPr>
          <a:xfrm>
            <a:off x="5045202" y="1426464"/>
            <a:ext cx="482346" cy="393192"/>
          </a:xfrm>
          <a:prstGeom prst="roundRect">
            <a:avLst>
              <a:gd name="adj" fmla="val 11628"/>
            </a:avLst>
          </a:prstGeom>
          <a:solidFill>
            <a:srgbClr val="BF9000"/>
          </a:solidFill>
          <a:ln w="12700">
            <a:solidFill>
              <a:srgbClr val="BF9000"/>
            </a:solidFill>
            <a:prstDash val="solid"/>
          </a:ln>
        </p:spPr>
      </p:sp>
      <p:sp>
        <p:nvSpPr>
          <p:cNvPr id="34" name="Text 32"/>
          <p:cNvSpPr txBox="1"/>
          <p:nvPr/>
        </p:nvSpPr>
        <p:spPr>
          <a:xfrm>
            <a:off x="5072634" y="1426464"/>
            <a:ext cx="42748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Sites</a:t>
            </a:r>
            <a:endParaRPr lang="en-US" sz="950" dirty="0"/>
          </a:p>
        </p:txBody>
      </p:sp>
      <p:sp>
        <p:nvSpPr>
          <p:cNvPr id="35" name="Shape 33"/>
          <p:cNvSpPr/>
          <p:nvPr/>
        </p:nvSpPr>
        <p:spPr>
          <a:xfrm>
            <a:off x="5582412" y="1426464"/>
            <a:ext cx="482346" cy="393192"/>
          </a:xfrm>
          <a:prstGeom prst="roundRect">
            <a:avLst>
              <a:gd name="adj" fmla="val 11628"/>
            </a:avLst>
          </a:prstGeom>
          <a:solidFill>
            <a:srgbClr val="BF9000"/>
          </a:solidFill>
          <a:ln w="12700">
            <a:solidFill>
              <a:srgbClr val="BF9000"/>
            </a:solidFill>
            <a:prstDash val="solid"/>
          </a:ln>
        </p:spPr>
      </p:sp>
      <p:sp>
        <p:nvSpPr>
          <p:cNvPr id="36" name="Text 34"/>
          <p:cNvSpPr txBox="1"/>
          <p:nvPr/>
        </p:nvSpPr>
        <p:spPr>
          <a:xfrm>
            <a:off x="5609844" y="1426464"/>
            <a:ext cx="42748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Plan</a:t>
            </a:r>
            <a:endParaRPr lang="en-US" sz="950" dirty="0"/>
          </a:p>
        </p:txBody>
      </p:sp>
      <p:sp>
        <p:nvSpPr>
          <p:cNvPr id="37" name="Shape 35"/>
          <p:cNvSpPr/>
          <p:nvPr/>
        </p:nvSpPr>
        <p:spPr>
          <a:xfrm>
            <a:off x="6119622" y="1426464"/>
            <a:ext cx="482346" cy="393192"/>
          </a:xfrm>
          <a:prstGeom prst="roundRect">
            <a:avLst>
              <a:gd name="adj" fmla="val 11628"/>
            </a:avLst>
          </a:prstGeom>
          <a:solidFill>
            <a:srgbClr val="BF9000"/>
          </a:solidFill>
          <a:ln w="12700">
            <a:solidFill>
              <a:srgbClr val="BF9000"/>
            </a:solidFill>
            <a:prstDash val="solid"/>
          </a:ln>
        </p:spPr>
      </p:sp>
      <p:sp>
        <p:nvSpPr>
          <p:cNvPr id="38" name="Text 36"/>
          <p:cNvSpPr txBox="1"/>
          <p:nvPr/>
        </p:nvSpPr>
        <p:spPr>
          <a:xfrm>
            <a:off x="6147054" y="1426464"/>
            <a:ext cx="42748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SAP</a:t>
            </a:r>
            <a:endParaRPr lang="en-US" sz="950" dirty="0"/>
          </a:p>
        </p:txBody>
      </p:sp>
      <p:sp>
        <p:nvSpPr>
          <p:cNvPr id="39" name="Text 37"/>
          <p:cNvSpPr txBox="1"/>
          <p:nvPr/>
        </p:nvSpPr>
        <p:spPr>
          <a:xfrm>
            <a:off x="365760" y="2057400"/>
            <a:ext cx="1874520" cy="5029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1.2 Fleet cost</a:t>
            </a:r>
            <a:endParaRPr lang="en-US" sz="1200" dirty="0"/>
          </a:p>
        </p:txBody>
      </p:sp>
      <p:sp>
        <p:nvSpPr>
          <p:cNvPr id="40" name="Shape 38"/>
          <p:cNvSpPr/>
          <p:nvPr/>
        </p:nvSpPr>
        <p:spPr>
          <a:xfrm>
            <a:off x="2331720" y="2020824"/>
            <a:ext cx="6446520" cy="576072"/>
          </a:xfrm>
          <a:prstGeom prst="rect">
            <a:avLst/>
          </a:prstGeom>
          <a:solidFill>
            <a:srgbClr val="EEF1F6"/>
          </a:solidFill>
          <a:ln w="12700">
            <a:solidFill>
              <a:srgbClr val="E1E6EF"/>
            </a:solidFill>
            <a:prstDash val="solid"/>
          </a:ln>
        </p:spPr>
      </p:sp>
      <p:sp>
        <p:nvSpPr>
          <p:cNvPr id="41" name="Shape 39"/>
          <p:cNvSpPr/>
          <p:nvPr/>
        </p:nvSpPr>
        <p:spPr>
          <a:xfrm>
            <a:off x="2359152" y="2112264"/>
            <a:ext cx="1556766" cy="393192"/>
          </a:xfrm>
          <a:prstGeom prst="roundRect">
            <a:avLst>
              <a:gd name="adj" fmla="val 11628"/>
            </a:avLst>
          </a:prstGeom>
          <a:solidFill>
            <a:srgbClr val="BF9000"/>
          </a:solidFill>
          <a:ln w="12700">
            <a:solidFill>
              <a:srgbClr val="BF9000"/>
            </a:solidFill>
            <a:prstDash val="solid"/>
          </a:ln>
        </p:spPr>
      </p:sp>
      <p:sp>
        <p:nvSpPr>
          <p:cNvPr id="42" name="Text 40"/>
          <p:cNvSpPr txBox="1"/>
          <p:nvPr/>
        </p:nvSpPr>
        <p:spPr>
          <a:xfrm>
            <a:off x="2386584" y="2112264"/>
            <a:ext cx="150190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Baseline + fuel tender</a:t>
            </a:r>
            <a:endParaRPr lang="en-US" sz="950" dirty="0"/>
          </a:p>
        </p:txBody>
      </p:sp>
      <p:sp>
        <p:nvSpPr>
          <p:cNvPr id="43" name="Shape 41"/>
          <p:cNvSpPr/>
          <p:nvPr/>
        </p:nvSpPr>
        <p:spPr>
          <a:xfrm>
            <a:off x="3970782" y="2112264"/>
            <a:ext cx="2631186" cy="393192"/>
          </a:xfrm>
          <a:prstGeom prst="roundRect">
            <a:avLst>
              <a:gd name="adj" fmla="val 11628"/>
            </a:avLst>
          </a:prstGeom>
          <a:solidFill>
            <a:srgbClr val="BF9000"/>
          </a:solidFill>
          <a:ln w="12700">
            <a:solidFill>
              <a:srgbClr val="BF9000"/>
            </a:solidFill>
            <a:prstDash val="solid"/>
          </a:ln>
        </p:spPr>
      </p:sp>
      <p:sp>
        <p:nvSpPr>
          <p:cNvPr id="44" name="Text 42"/>
          <p:cNvSpPr txBox="1"/>
          <p:nvPr/>
        </p:nvSpPr>
        <p:spPr>
          <a:xfrm>
            <a:off x="3998214" y="2112264"/>
            <a:ext cx="257632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Measure −5% (Apr–Aug)</a:t>
            </a:r>
            <a:endParaRPr lang="en-US" sz="950" dirty="0"/>
          </a:p>
        </p:txBody>
      </p:sp>
      <p:sp>
        <p:nvSpPr>
          <p:cNvPr id="45" name="Shape 43"/>
          <p:cNvSpPr/>
          <p:nvPr/>
        </p:nvSpPr>
        <p:spPr>
          <a:xfrm>
            <a:off x="2331720" y="2706624"/>
            <a:ext cx="6446520" cy="576072"/>
          </a:xfrm>
          <a:prstGeom prst="rect">
            <a:avLst/>
          </a:prstGeom>
          <a:solidFill>
            <a:srgbClr val="FFFFFF"/>
          </a:solidFill>
          <a:ln w="12700">
            <a:solidFill>
              <a:srgbClr val="E1E6EF"/>
            </a:solidFill>
            <a:prstDash val="solid"/>
          </a:ln>
        </p:spPr>
      </p:sp>
      <p:sp>
        <p:nvSpPr>
          <p:cNvPr id="46" name="Shape 44"/>
          <p:cNvSpPr/>
          <p:nvPr/>
        </p:nvSpPr>
        <p:spPr>
          <a:xfrm>
            <a:off x="2896362" y="2798064"/>
            <a:ext cx="2093976" cy="393192"/>
          </a:xfrm>
          <a:prstGeom prst="roundRect">
            <a:avLst>
              <a:gd name="adj" fmla="val 11628"/>
            </a:avLst>
          </a:prstGeom>
          <a:solidFill>
            <a:srgbClr val="BF9000"/>
          </a:solidFill>
          <a:ln w="12700">
            <a:solidFill>
              <a:srgbClr val="BF9000"/>
            </a:solidFill>
            <a:prstDash val="solid"/>
          </a:ln>
        </p:spPr>
      </p:sp>
      <p:sp>
        <p:nvSpPr>
          <p:cNvPr id="47" name="Text 45"/>
          <p:cNvSpPr txBox="1"/>
          <p:nvPr/>
        </p:nvSpPr>
        <p:spPr>
          <a:xfrm>
            <a:off x="2923794" y="2798064"/>
            <a:ext cx="203911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Lane review: own vs 3PL</a:t>
            </a:r>
            <a:endParaRPr lang="en-US" sz="950" dirty="0"/>
          </a:p>
        </p:txBody>
      </p:sp>
      <p:sp>
        <p:nvSpPr>
          <p:cNvPr id="48" name="Shape 46"/>
          <p:cNvSpPr/>
          <p:nvPr/>
        </p:nvSpPr>
        <p:spPr>
          <a:xfrm>
            <a:off x="5045202" y="2798064"/>
            <a:ext cx="2093976" cy="393192"/>
          </a:xfrm>
          <a:prstGeom prst="roundRect">
            <a:avLst>
              <a:gd name="adj" fmla="val 11628"/>
            </a:avLst>
          </a:prstGeom>
          <a:solidFill>
            <a:srgbClr val="BF9000"/>
          </a:solidFill>
          <a:ln w="12700">
            <a:solidFill>
              <a:srgbClr val="BF9000"/>
            </a:solidFill>
            <a:prstDash val="solid"/>
          </a:ln>
        </p:spPr>
      </p:sp>
      <p:sp>
        <p:nvSpPr>
          <p:cNvPr id="49" name="Text 47"/>
          <p:cNvSpPr txBox="1"/>
          <p:nvPr/>
        </p:nvSpPr>
        <p:spPr>
          <a:xfrm>
            <a:off x="5072634" y="2798064"/>
            <a:ext cx="203911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3PL re-tender, contract</a:t>
            </a:r>
            <a:endParaRPr lang="en-US" sz="950" dirty="0"/>
          </a:p>
        </p:txBody>
      </p:sp>
      <p:sp>
        <p:nvSpPr>
          <p:cNvPr id="50" name="Text 48"/>
          <p:cNvSpPr txBox="1"/>
          <p:nvPr/>
        </p:nvSpPr>
        <p:spPr>
          <a:xfrm>
            <a:off x="365760" y="3429000"/>
            <a:ext cx="1874520" cy="5029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3.2 Live Delivery</a:t>
            </a:r>
            <a:endParaRPr lang="en-US" sz="1200" dirty="0"/>
          </a:p>
        </p:txBody>
      </p:sp>
      <p:sp>
        <p:nvSpPr>
          <p:cNvPr id="51" name="Shape 49"/>
          <p:cNvSpPr/>
          <p:nvPr/>
        </p:nvSpPr>
        <p:spPr>
          <a:xfrm>
            <a:off x="2331720" y="3392424"/>
            <a:ext cx="6446520" cy="576072"/>
          </a:xfrm>
          <a:prstGeom prst="rect">
            <a:avLst/>
          </a:prstGeom>
          <a:solidFill>
            <a:srgbClr val="EEF1F6"/>
          </a:solidFill>
          <a:ln w="12700">
            <a:solidFill>
              <a:srgbClr val="E1E6EF"/>
            </a:solidFill>
            <a:prstDash val="solid"/>
          </a:ln>
        </p:spPr>
      </p:sp>
      <p:sp>
        <p:nvSpPr>
          <p:cNvPr id="52" name="Shape 50"/>
          <p:cNvSpPr/>
          <p:nvPr/>
        </p:nvSpPr>
        <p:spPr>
          <a:xfrm>
            <a:off x="2359152" y="3483864"/>
            <a:ext cx="1556766" cy="393192"/>
          </a:xfrm>
          <a:prstGeom prst="roundRect">
            <a:avLst>
              <a:gd name="adj" fmla="val 11628"/>
            </a:avLst>
          </a:prstGeom>
          <a:solidFill>
            <a:srgbClr val="BF9000"/>
          </a:solidFill>
          <a:ln w="12700">
            <a:solidFill>
              <a:srgbClr val="BF9000"/>
            </a:solidFill>
            <a:prstDash val="solid"/>
          </a:ln>
        </p:spPr>
      </p:sp>
      <p:sp>
        <p:nvSpPr>
          <p:cNvPr id="53" name="Text 51"/>
          <p:cNvSpPr txBox="1"/>
          <p:nvPr/>
        </p:nvSpPr>
        <p:spPr>
          <a:xfrm>
            <a:off x="2386584" y="3483864"/>
            <a:ext cx="150190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Platform to all sites</a:t>
            </a:r>
            <a:endParaRPr lang="en-US" sz="950" dirty="0"/>
          </a:p>
        </p:txBody>
      </p:sp>
      <p:sp>
        <p:nvSpPr>
          <p:cNvPr id="54" name="Shape 52"/>
          <p:cNvSpPr/>
          <p:nvPr/>
        </p:nvSpPr>
        <p:spPr>
          <a:xfrm>
            <a:off x="3970782" y="3483864"/>
            <a:ext cx="1019556" cy="393192"/>
          </a:xfrm>
          <a:prstGeom prst="roundRect">
            <a:avLst>
              <a:gd name="adj" fmla="val 11628"/>
            </a:avLst>
          </a:prstGeom>
          <a:solidFill>
            <a:srgbClr val="BF9000"/>
          </a:solidFill>
          <a:ln w="12700">
            <a:solidFill>
              <a:srgbClr val="BF9000"/>
            </a:solidFill>
            <a:prstDash val="solid"/>
          </a:ln>
        </p:spPr>
      </p:sp>
      <p:sp>
        <p:nvSpPr>
          <p:cNvPr id="55" name="Text 53"/>
          <p:cNvSpPr txBox="1"/>
          <p:nvPr/>
        </p:nvSpPr>
        <p:spPr>
          <a:xfrm>
            <a:off x="3998214" y="3483864"/>
            <a:ext cx="96469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ETA + link</a:t>
            </a:r>
            <a:endParaRPr lang="en-US" sz="950" dirty="0"/>
          </a:p>
        </p:txBody>
      </p:sp>
      <p:sp>
        <p:nvSpPr>
          <p:cNvPr id="56" name="Shape 54"/>
          <p:cNvSpPr/>
          <p:nvPr/>
        </p:nvSpPr>
        <p:spPr>
          <a:xfrm>
            <a:off x="5045202" y="3483864"/>
            <a:ext cx="2093976" cy="393192"/>
          </a:xfrm>
          <a:prstGeom prst="roundRect">
            <a:avLst>
              <a:gd name="adj" fmla="val 11628"/>
            </a:avLst>
          </a:prstGeom>
          <a:solidFill>
            <a:srgbClr val="BF9000"/>
          </a:solidFill>
          <a:ln w="12700">
            <a:solidFill>
              <a:srgbClr val="BF9000"/>
            </a:solidFill>
            <a:prstDash val="solid"/>
          </a:ln>
        </p:spPr>
      </p:sp>
      <p:sp>
        <p:nvSpPr>
          <p:cNvPr id="57" name="Text 55"/>
          <p:cNvSpPr txBox="1"/>
          <p:nvPr/>
        </p:nvSpPr>
        <p:spPr>
          <a:xfrm>
            <a:off x="5072634" y="3483864"/>
            <a:ext cx="2039112" cy="393192"/>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0-day SAP commit, 100% POD</a:t>
            </a:r>
            <a:endParaRPr lang="en-US" sz="950" dirty="0"/>
          </a:p>
        </p:txBody>
      </p:sp>
      <p:sp>
        <p:nvSpPr>
          <p:cNvPr id="58" name="Shape 56"/>
          <p:cNvSpPr/>
          <p:nvPr/>
        </p:nvSpPr>
        <p:spPr>
          <a:xfrm>
            <a:off x="7194042" y="1335024"/>
            <a:ext cx="1556766" cy="2670048"/>
          </a:xfrm>
          <a:prstGeom prst="roundRect">
            <a:avLst>
              <a:gd name="adj" fmla="val 2937"/>
            </a:avLst>
          </a:prstGeom>
          <a:solidFill>
            <a:srgbClr val="D4E1F5"/>
          </a:solidFill>
          <a:ln w="12700">
            <a:solidFill>
              <a:srgbClr val="D4E1F5"/>
            </a:solidFill>
            <a:prstDash val="solid"/>
          </a:ln>
        </p:spPr>
      </p:sp>
      <p:sp>
        <p:nvSpPr>
          <p:cNvPr id="59" name="Text 57"/>
          <p:cNvSpPr txBox="1"/>
          <p:nvPr/>
        </p:nvSpPr>
        <p:spPr>
          <a:xfrm>
            <a:off x="7258050" y="1335024"/>
            <a:ext cx="1428750" cy="2670048"/>
          </a:xfrm>
          <a:prstGeom prst="rect">
            <a:avLst/>
          </a:prstGeom>
          <a:noFill/>
          <a:ln/>
        </p:spPr>
        <p:txBody>
          <a:bodyPr wrap="square" lIns="0" tIns="0" rIns="0" bIns="0" rtlCol="0" anchor="ctr"/>
          <a:lstStyle/>
          <a:p>
            <a:pPr algn="ctr" indent="0" marL="0">
              <a:buNone/>
            </a:pPr>
            <a:r>
              <a:rPr lang="en-US" sz="1100" b="1" dirty="0">
                <a:solidFill>
                  <a:srgbClr val="011E41"/>
                </a:solidFill>
                <a:latin typeface="Arial" pitchFamily="34" charset="0"/>
                <a:ea typeface="Arial" pitchFamily="34" charset="-122"/>
                <a:cs typeface="Arial" pitchFamily="34" charset="-120"/>
              </a:rPr>
              <a:t>Sustain, report monthly, prepare 2028 DC execution</a:t>
            </a:r>
            <a:endParaRPr lang="en-US" sz="1100" dirty="0"/>
          </a:p>
        </p:txBody>
      </p:sp>
      <p:sp>
        <p:nvSpPr>
          <p:cNvPr id="60" name="Text 58"/>
          <p:cNvSpPr txBox="1"/>
          <p:nvPr/>
        </p:nvSpPr>
        <p:spPr>
          <a:xfrm>
            <a:off x="365760" y="4160520"/>
            <a:ext cx="8412480" cy="320040"/>
          </a:xfrm>
          <a:prstGeom prst="rect">
            <a:avLst/>
          </a:prstGeom>
          <a:noFill/>
          <a:ln/>
        </p:spPr>
        <p:txBody>
          <a:bodyPr wrap="square" lIns="0" tIns="0" rIns="0" bIns="0" rtlCol="0" anchor="ctr"/>
          <a:lstStyle/>
          <a:p>
            <a:pPr indent="0" marL="0">
              <a:buNone/>
            </a:pPr>
            <a:r>
              <a:rPr lang="en-US" sz="1200" i="1" dirty="0">
                <a:solidFill>
                  <a:srgbClr val="5B6577"/>
                </a:solidFill>
                <a:latin typeface="Arial" pitchFamily="34" charset="0"/>
                <a:ea typeface="Arial" pitchFamily="34" charset="-122"/>
                <a:cs typeface="Arial" pitchFamily="34" charset="-120"/>
              </a:rPr>
              <a:t>All three initiatives due Sep 2027 (gold). Monthly progress review with Chandy.</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201168" y="109728"/>
            <a:ext cx="5852160" cy="475488"/>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What we need from management</a:t>
            </a:r>
            <a:endParaRPr lang="en-US" sz="2000" dirty="0"/>
          </a:p>
        </p:txBody>
      </p:sp>
      <p:sp>
        <p:nvSpPr>
          <p:cNvPr id="3" name="Shape 1"/>
          <p:cNvSpPr/>
          <p:nvPr/>
        </p:nvSpPr>
        <p:spPr>
          <a:xfrm>
            <a:off x="365760" y="841248"/>
            <a:ext cx="5257800" cy="822960"/>
          </a:xfrm>
          <a:prstGeom prst="roundRect">
            <a:avLst>
              <a:gd name="adj" fmla="val 8889"/>
            </a:avLst>
          </a:prstGeom>
          <a:solidFill>
            <a:srgbClr val="FFFFFF"/>
          </a:solidFill>
          <a:ln w="9525">
            <a:solidFill>
              <a:srgbClr val="C9D2E0"/>
            </a:solidFill>
            <a:prstDash val="solid"/>
          </a:ln>
        </p:spPr>
      </p:sp>
      <p:sp>
        <p:nvSpPr>
          <p:cNvPr id="4" name="Shape 2"/>
          <p:cNvSpPr/>
          <p:nvPr/>
        </p:nvSpPr>
        <p:spPr>
          <a:xfrm>
            <a:off x="502920" y="1024128"/>
            <a:ext cx="457200" cy="457200"/>
          </a:xfrm>
          <a:prstGeom prst="ellipse">
            <a:avLst/>
          </a:prstGeom>
          <a:solidFill>
            <a:srgbClr val="BF9000"/>
          </a:solidFill>
          <a:ln w="12700">
            <a:solidFill>
              <a:srgbClr val="BF9000"/>
            </a:solidFill>
            <a:prstDash val="solid"/>
          </a:ln>
        </p:spPr>
      </p:sp>
      <p:pic>
        <p:nvPicPr>
          <p:cNvPr id="5" name="Image 0" descr="preencoded.png">    </p:cNvPr>
          <p:cNvPicPr>
            <a:picLocks noChangeAspect="1"/>
          </p:cNvPicPr>
          <p:nvPr/>
        </p:nvPicPr>
        <p:blipFill>
          <a:blip r:embed="rId1"/>
          <a:stretch>
            <a:fillRect/>
          </a:stretch>
        </p:blipFill>
        <p:spPr>
          <a:xfrm>
            <a:off x="612648" y="1133856"/>
            <a:ext cx="237744" cy="237744"/>
          </a:xfrm>
          <a:prstGeom prst="rect">
            <a:avLst/>
          </a:prstGeom>
        </p:spPr>
      </p:pic>
      <p:sp>
        <p:nvSpPr>
          <p:cNvPr id="6" name="Text 3"/>
          <p:cNvSpPr txBox="1"/>
          <p:nvPr/>
        </p:nvSpPr>
        <p:spPr>
          <a:xfrm>
            <a:off x="1097280" y="886968"/>
            <a:ext cx="1234440" cy="7315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Finance</a:t>
            </a:r>
            <a:endParaRPr lang="en-US" sz="1200" dirty="0"/>
          </a:p>
        </p:txBody>
      </p:sp>
      <p:sp>
        <p:nvSpPr>
          <p:cNvPr id="7" name="Text 4"/>
          <p:cNvSpPr txBox="1"/>
          <p:nvPr/>
        </p:nvSpPr>
        <p:spPr>
          <a:xfrm>
            <a:off x="2331720" y="886968"/>
            <a:ext cx="3200400" cy="73152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Validate the 2026 baselines (cost per ton-km, cost-to-serve per branch) by Jan 2027 and the DC business case</a:t>
            </a:r>
            <a:endParaRPr lang="en-US" sz="1150" dirty="0"/>
          </a:p>
        </p:txBody>
      </p:sp>
      <p:sp>
        <p:nvSpPr>
          <p:cNvPr id="8" name="Shape 5"/>
          <p:cNvSpPr/>
          <p:nvPr/>
        </p:nvSpPr>
        <p:spPr>
          <a:xfrm>
            <a:off x="365760" y="1792224"/>
            <a:ext cx="5257800" cy="822960"/>
          </a:xfrm>
          <a:prstGeom prst="roundRect">
            <a:avLst>
              <a:gd name="adj" fmla="val 8889"/>
            </a:avLst>
          </a:prstGeom>
          <a:solidFill>
            <a:srgbClr val="FFFFFF"/>
          </a:solidFill>
          <a:ln w="9525">
            <a:solidFill>
              <a:srgbClr val="C9D2E0"/>
            </a:solidFill>
            <a:prstDash val="solid"/>
          </a:ln>
        </p:spPr>
      </p:sp>
      <p:sp>
        <p:nvSpPr>
          <p:cNvPr id="9" name="Shape 6"/>
          <p:cNvSpPr/>
          <p:nvPr/>
        </p:nvSpPr>
        <p:spPr>
          <a:xfrm>
            <a:off x="502920" y="1975104"/>
            <a:ext cx="457200" cy="457200"/>
          </a:xfrm>
          <a:prstGeom prst="ellipse">
            <a:avLst/>
          </a:prstGeom>
          <a:solidFill>
            <a:srgbClr val="BF9000"/>
          </a:solidFill>
          <a:ln w="12700">
            <a:solidFill>
              <a:srgbClr val="BF9000"/>
            </a:solidFill>
            <a:prstDash val="solid"/>
          </a:ln>
        </p:spPr>
      </p:sp>
      <p:pic>
        <p:nvPicPr>
          <p:cNvPr id="10" name="Image 1" descr="preencoded.png">    </p:cNvPr>
          <p:cNvPicPr>
            <a:picLocks noChangeAspect="1"/>
          </p:cNvPicPr>
          <p:nvPr/>
        </p:nvPicPr>
        <p:blipFill>
          <a:blip r:embed="rId2"/>
          <a:stretch>
            <a:fillRect/>
          </a:stretch>
        </p:blipFill>
        <p:spPr>
          <a:xfrm>
            <a:off x="612648" y="2084832"/>
            <a:ext cx="237744" cy="237744"/>
          </a:xfrm>
          <a:prstGeom prst="rect">
            <a:avLst/>
          </a:prstGeom>
        </p:spPr>
      </p:pic>
      <p:sp>
        <p:nvSpPr>
          <p:cNvPr id="11" name="Text 7"/>
          <p:cNvSpPr txBox="1"/>
          <p:nvPr/>
        </p:nvSpPr>
        <p:spPr>
          <a:xfrm>
            <a:off x="1097280" y="1837944"/>
            <a:ext cx="1234440" cy="7315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Sales</a:t>
            </a:r>
            <a:endParaRPr lang="en-US" sz="1200" dirty="0"/>
          </a:p>
        </p:txBody>
      </p:sp>
      <p:sp>
        <p:nvSpPr>
          <p:cNvPr id="12" name="Text 8"/>
          <p:cNvSpPr txBox="1"/>
          <p:nvPr/>
        </p:nvSpPr>
        <p:spPr>
          <a:xfrm>
            <a:off x="2331720" y="1837944"/>
            <a:ext cx="3200400" cy="73152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Co-own the DC customer transition; collect customer phone numbers for ETA messages; count status calls from Q4 2026</a:t>
            </a:r>
            <a:endParaRPr lang="en-US" sz="1150" dirty="0"/>
          </a:p>
        </p:txBody>
      </p:sp>
      <p:sp>
        <p:nvSpPr>
          <p:cNvPr id="13" name="Shape 9"/>
          <p:cNvSpPr/>
          <p:nvPr/>
        </p:nvSpPr>
        <p:spPr>
          <a:xfrm>
            <a:off x="365760" y="2743200"/>
            <a:ext cx="5257800" cy="822960"/>
          </a:xfrm>
          <a:prstGeom prst="roundRect">
            <a:avLst>
              <a:gd name="adj" fmla="val 8889"/>
            </a:avLst>
          </a:prstGeom>
          <a:solidFill>
            <a:srgbClr val="FFFFFF"/>
          </a:solidFill>
          <a:ln w="9525">
            <a:solidFill>
              <a:srgbClr val="C9D2E0"/>
            </a:solidFill>
            <a:prstDash val="solid"/>
          </a:ln>
        </p:spPr>
      </p:sp>
      <p:sp>
        <p:nvSpPr>
          <p:cNvPr id="14" name="Shape 10"/>
          <p:cNvSpPr/>
          <p:nvPr/>
        </p:nvSpPr>
        <p:spPr>
          <a:xfrm>
            <a:off x="502920" y="2926080"/>
            <a:ext cx="457200" cy="457200"/>
          </a:xfrm>
          <a:prstGeom prst="ellipse">
            <a:avLst/>
          </a:prstGeom>
          <a:solidFill>
            <a:srgbClr val="BF9000"/>
          </a:solidFill>
          <a:ln w="12700">
            <a:solidFill>
              <a:srgbClr val="BF9000"/>
            </a:solidFill>
            <a:prstDash val="solid"/>
          </a:ln>
        </p:spPr>
      </p:sp>
      <p:pic>
        <p:nvPicPr>
          <p:cNvPr id="15" name="Image 2" descr="preencoded.png">    </p:cNvPr>
          <p:cNvPicPr>
            <a:picLocks noChangeAspect="1"/>
          </p:cNvPicPr>
          <p:nvPr/>
        </p:nvPicPr>
        <p:blipFill>
          <a:blip r:embed="rId3"/>
          <a:stretch>
            <a:fillRect/>
          </a:stretch>
        </p:blipFill>
        <p:spPr>
          <a:xfrm>
            <a:off x="612648" y="3035808"/>
            <a:ext cx="237744" cy="237744"/>
          </a:xfrm>
          <a:prstGeom prst="rect">
            <a:avLst/>
          </a:prstGeom>
        </p:spPr>
      </p:pic>
      <p:sp>
        <p:nvSpPr>
          <p:cNvPr id="16" name="Text 11"/>
          <p:cNvSpPr txBox="1"/>
          <p:nvPr/>
        </p:nvSpPr>
        <p:spPr>
          <a:xfrm>
            <a:off x="1097280" y="2788920"/>
            <a:ext cx="1234440" cy="7315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IT / SAP</a:t>
            </a:r>
            <a:endParaRPr lang="en-US" sz="1200" dirty="0"/>
          </a:p>
        </p:txBody>
      </p:sp>
      <p:sp>
        <p:nvSpPr>
          <p:cNvPr id="17" name="Text 12"/>
          <p:cNvSpPr txBox="1"/>
          <p:nvPr/>
        </p:nvSpPr>
        <p:spPr>
          <a:xfrm>
            <a:off x="2331720" y="2788920"/>
            <a:ext cx="3200400" cy="73152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Stock commit at order capture (Jun 2027) and SAP setup for Regional DC 1 and 2 (Aug 2027)</a:t>
            </a:r>
            <a:endParaRPr lang="en-US" sz="1150" dirty="0"/>
          </a:p>
        </p:txBody>
      </p:sp>
      <p:sp>
        <p:nvSpPr>
          <p:cNvPr id="18" name="Shape 13"/>
          <p:cNvSpPr/>
          <p:nvPr/>
        </p:nvSpPr>
        <p:spPr>
          <a:xfrm>
            <a:off x="365760" y="3694176"/>
            <a:ext cx="5257800" cy="822960"/>
          </a:xfrm>
          <a:prstGeom prst="roundRect">
            <a:avLst>
              <a:gd name="adj" fmla="val 8889"/>
            </a:avLst>
          </a:prstGeom>
          <a:solidFill>
            <a:srgbClr val="FFFFFF"/>
          </a:solidFill>
          <a:ln w="9525">
            <a:solidFill>
              <a:srgbClr val="C9D2E0"/>
            </a:solidFill>
            <a:prstDash val="solid"/>
          </a:ln>
        </p:spPr>
      </p:sp>
      <p:sp>
        <p:nvSpPr>
          <p:cNvPr id="19" name="Shape 14"/>
          <p:cNvSpPr/>
          <p:nvPr/>
        </p:nvSpPr>
        <p:spPr>
          <a:xfrm>
            <a:off x="502920" y="3877056"/>
            <a:ext cx="457200" cy="457200"/>
          </a:xfrm>
          <a:prstGeom prst="ellipse">
            <a:avLst/>
          </a:prstGeom>
          <a:solidFill>
            <a:srgbClr val="BF9000"/>
          </a:solidFill>
          <a:ln w="12700">
            <a:solidFill>
              <a:srgbClr val="BF9000"/>
            </a:solidFill>
            <a:prstDash val="solid"/>
          </a:ln>
        </p:spPr>
      </p:sp>
      <p:pic>
        <p:nvPicPr>
          <p:cNvPr id="20" name="Image 3" descr="preencoded.png">    </p:cNvPr>
          <p:cNvPicPr>
            <a:picLocks noChangeAspect="1"/>
          </p:cNvPicPr>
          <p:nvPr/>
        </p:nvPicPr>
        <p:blipFill>
          <a:blip r:embed="rId4"/>
          <a:stretch>
            <a:fillRect/>
          </a:stretch>
        </p:blipFill>
        <p:spPr>
          <a:xfrm>
            <a:off x="612648" y="3986784"/>
            <a:ext cx="237744" cy="237744"/>
          </a:xfrm>
          <a:prstGeom prst="rect">
            <a:avLst/>
          </a:prstGeom>
        </p:spPr>
      </p:pic>
      <p:sp>
        <p:nvSpPr>
          <p:cNvPr id="21" name="Text 15"/>
          <p:cNvSpPr txBox="1"/>
          <p:nvPr/>
        </p:nvSpPr>
        <p:spPr>
          <a:xfrm>
            <a:off x="1097280" y="3739896"/>
            <a:ext cx="1234440" cy="731520"/>
          </a:xfrm>
          <a:prstGeom prst="rect">
            <a:avLst/>
          </a:prstGeom>
          <a:noFill/>
          <a:ln/>
        </p:spPr>
        <p:txBody>
          <a:bodyPr wrap="square" lIns="0" tIns="0" rIns="0" bIns="0" rtlCol="0" anchor="ctr"/>
          <a:lstStyle/>
          <a:p>
            <a:pPr indent="0" marL="0">
              <a:buNone/>
            </a:pPr>
            <a:r>
              <a:rPr lang="en-US" sz="1200" b="1" dirty="0">
                <a:solidFill>
                  <a:srgbClr val="011E41"/>
                </a:solidFill>
                <a:latin typeface="Arial" pitchFamily="34" charset="0"/>
                <a:ea typeface="Arial" pitchFamily="34" charset="-122"/>
                <a:cs typeface="Arial" pitchFamily="34" charset="-120"/>
              </a:rPr>
              <a:t>Procurement + budget</a:t>
            </a:r>
            <a:endParaRPr lang="en-US" sz="1200" dirty="0"/>
          </a:p>
        </p:txBody>
      </p:sp>
      <p:sp>
        <p:nvSpPr>
          <p:cNvPr id="22" name="Text 16"/>
          <p:cNvSpPr txBox="1"/>
          <p:nvPr/>
        </p:nvSpPr>
        <p:spPr>
          <a:xfrm>
            <a:off x="2331720" y="3739896"/>
            <a:ext cx="3200400" cy="731520"/>
          </a:xfrm>
          <a:prstGeom prst="rect">
            <a:avLst/>
          </a:prstGeom>
          <a:noFill/>
          <a:ln/>
        </p:spPr>
        <p:txBody>
          <a:bodyPr wrap="square" lIns="0" tIns="0" rIns="0" bIns="0" rtlCol="0" anchor="ctr"/>
          <a:lstStyle/>
          <a:p>
            <a:pPr indent="0" marL="0">
              <a:buNone/>
            </a:pPr>
            <a:r>
              <a:rPr lang="en-US" sz="1150" dirty="0">
                <a:solidFill>
                  <a:srgbClr val="1A1A1A"/>
                </a:solidFill>
                <a:latin typeface="Arial" pitchFamily="34" charset="0"/>
                <a:ea typeface="Arial" pitchFamily="34" charset="-122"/>
                <a:cs typeface="Arial" pitchFamily="34" charset="-120"/>
              </a:rPr>
              <a:t>Fuel tender, fleet cards, GPS devices for own trucks, SMS cost, 3PL re-tender</a:t>
            </a:r>
            <a:endParaRPr lang="en-US" sz="1150" dirty="0"/>
          </a:p>
        </p:txBody>
      </p:sp>
      <p:sp>
        <p:nvSpPr>
          <p:cNvPr id="23" name="Shape 17"/>
          <p:cNvSpPr/>
          <p:nvPr/>
        </p:nvSpPr>
        <p:spPr>
          <a:xfrm>
            <a:off x="5852160" y="841248"/>
            <a:ext cx="2926080" cy="3657600"/>
          </a:xfrm>
          <a:prstGeom prst="roundRect">
            <a:avLst>
              <a:gd name="adj" fmla="val 2500"/>
            </a:avLst>
          </a:prstGeom>
          <a:solidFill>
            <a:srgbClr val="011E41"/>
          </a:solidFill>
          <a:ln w="12700">
            <a:solidFill>
              <a:srgbClr val="011E41"/>
            </a:solidFill>
            <a:prstDash val="solid"/>
          </a:ln>
        </p:spPr>
      </p:sp>
      <p:sp>
        <p:nvSpPr>
          <p:cNvPr id="24" name="Text 18"/>
          <p:cNvSpPr txBox="1"/>
          <p:nvPr/>
        </p:nvSpPr>
        <p:spPr>
          <a:xfrm>
            <a:off x="6035040" y="960120"/>
            <a:ext cx="2560320" cy="274320"/>
          </a:xfrm>
          <a:prstGeom prst="rect">
            <a:avLst/>
          </a:prstGeom>
          <a:noFill/>
          <a:ln/>
        </p:spPr>
        <p:txBody>
          <a:bodyPr wrap="square" lIns="0" tIns="0" rIns="0" bIns="0" rtlCol="0" anchor="ctr"/>
          <a:lstStyle/>
          <a:p>
            <a:pPr indent="0" marL="0">
              <a:buNone/>
            </a:pPr>
            <a:r>
              <a:rPr lang="en-US" sz="1400" b="1" dirty="0">
                <a:solidFill>
                  <a:srgbClr val="E8A33D"/>
                </a:solidFill>
                <a:latin typeface="Arial" pitchFamily="34" charset="0"/>
                <a:ea typeface="Arial" pitchFamily="34" charset="-122"/>
                <a:cs typeface="Arial" pitchFamily="34" charset="-120"/>
              </a:rPr>
              <a:t>Key risks</a:t>
            </a:r>
            <a:endParaRPr lang="en-US" sz="1400" dirty="0"/>
          </a:p>
        </p:txBody>
      </p:sp>
      <p:sp>
        <p:nvSpPr>
          <p:cNvPr id="25" name="Text 19"/>
          <p:cNvSpPr txBox="1"/>
          <p:nvPr/>
        </p:nvSpPr>
        <p:spPr>
          <a:xfrm>
            <a:off x="6035040" y="1325880"/>
            <a:ext cx="2606040" cy="30175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No reliable 2026 baseline: we fix it in Q1 with Finance and app data</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Drivers and 3PL slow to adopt apps: training, daily review, scorecard</a:t>
            </a:r>
            <a:endParaRPr lang="en-US" sz="1200" dirty="0"/>
          </a:p>
          <a:p>
            <a:pPr marL="342900" indent="-342900">
              <a:spcAft>
                <a:spcPts val="600"/>
              </a:spcAft>
              <a:buSzPct val="100000"/>
              <a:buChar char="•"/>
            </a:pPr>
            <a:r>
              <a:rPr lang="en-US" sz="1200" dirty="0">
                <a:solidFill>
                  <a:srgbClr val="FFFFFF"/>
                </a:solidFill>
                <a:latin typeface="Arial" pitchFamily="34" charset="0"/>
                <a:ea typeface="Arial" pitchFamily="34" charset="-122"/>
                <a:cs typeface="Arial" pitchFamily="34" charset="-120"/>
              </a:rPr>
              <a:t>SAP change takes longer: start the IT request in Jan</a:t>
            </a:r>
            <a:endParaRPr lang="en-US" sz="12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577"/>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tmp/claude-0/sd/img-014.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B1F3F">
              <a:alpha val="75000"/>
            </a:srgbClr>
          </a:solidFill>
          <a:ln w="12700">
            <a:solidFill>
              <a:srgbClr val="0B1F3F">
                <a:alpha val="0"/>
              </a:srgbClr>
            </a:solidFill>
            <a:prstDash val="solid"/>
          </a:ln>
        </p:spPr>
      </p:sp>
      <p:pic>
        <p:nvPicPr>
          <p:cNvPr id="4" name="Image 1" descr="/tmp/claude-0/sd/logo_big.png">    </p:cNvPr>
          <p:cNvPicPr>
            <a:picLocks noChangeAspect="1"/>
          </p:cNvPicPr>
          <p:nvPr/>
        </p:nvPicPr>
        <p:blipFill>
          <a:blip r:embed="rId2"/>
          <a:stretch>
            <a:fillRect/>
          </a:stretch>
        </p:blipFill>
        <p:spPr>
          <a:xfrm>
            <a:off x="3474720" y="731520"/>
            <a:ext cx="2194560" cy="795528"/>
          </a:xfrm>
          <a:prstGeom prst="rect">
            <a:avLst/>
          </a:prstGeom>
        </p:spPr>
      </p:pic>
      <p:sp>
        <p:nvSpPr>
          <p:cNvPr id="5" name="Text 1"/>
          <p:cNvSpPr txBox="1"/>
          <p:nvPr/>
        </p:nvSpPr>
        <p:spPr>
          <a:xfrm>
            <a:off x="457200" y="182880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Lower cost to serve. Faster, visible delivery.</a:t>
            </a:r>
            <a:endParaRPr lang="en-US" sz="2600" dirty="0"/>
          </a:p>
        </p:txBody>
      </p:sp>
      <p:sp>
        <p:nvSpPr>
          <p:cNvPr id="6" name="Text 2"/>
          <p:cNvSpPr txBox="1"/>
          <p:nvPr/>
        </p:nvSpPr>
        <p:spPr>
          <a:xfrm>
            <a:off x="457200" y="2468880"/>
            <a:ext cx="8229600" cy="365760"/>
          </a:xfrm>
          <a:prstGeom prst="rect">
            <a:avLst/>
          </a:prstGeom>
          <a:noFill/>
          <a:ln/>
        </p:spPr>
        <p:txBody>
          <a:bodyPr wrap="square" lIns="0" tIns="0" rIns="0" bIns="0" rtlCol="0" anchor="ctr"/>
          <a:lstStyle/>
          <a:p>
            <a:pPr algn="ctr" indent="0" marL="0">
              <a:buNone/>
            </a:pPr>
            <a:r>
              <a:rPr lang="en-US" sz="1500" b="1" dirty="0">
                <a:solidFill>
                  <a:srgbClr val="E8A33D"/>
                </a:solidFill>
                <a:latin typeface="Arial" pitchFamily="34" charset="0"/>
                <a:ea typeface="Arial" pitchFamily="34" charset="-122"/>
                <a:cs typeface="Arial" pitchFamily="34" charset="-120"/>
              </a:rPr>
              <a:t>≥10% cost-to-serve per ton  ·  −5% cost per ton-km  ·  0-day stock commit</a:t>
            </a:r>
            <a:endParaRPr lang="en-US" sz="1500" dirty="0"/>
          </a:p>
        </p:txBody>
      </p:sp>
      <p:sp>
        <p:nvSpPr>
          <p:cNvPr id="7" name="Text 3"/>
          <p:cNvSpPr txBox="1"/>
          <p:nvPr/>
        </p:nvSpPr>
        <p:spPr>
          <a:xfrm>
            <a:off x="457200" y="3200400"/>
            <a:ext cx="822960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Arial" pitchFamily="34" charset="0"/>
                <a:ea typeface="Arial" pitchFamily="34" charset="-122"/>
                <a:cs typeface="Arial" pitchFamily="34" charset="-120"/>
              </a:rPr>
              <a:t>Questions and discussion</a:t>
            </a:r>
            <a:endParaRPr lang="en-US" sz="2000" dirty="0"/>
          </a:p>
        </p:txBody>
      </p:sp>
    </p:spTree>
  </p:cSld>
  <p:clrMapOvr>
    <a:masterClrMapping/>
  </p:clrMapOvr>
</p:sld>
</file>

<file path=ppt/theme/theme1.xml><?xml version="1.0" encoding="utf-8"?>
<a:theme xmlns:a="http://schemas.openxmlformats.org/drawingml/2006/main" name="ISI Steel Strategy Day">
  <a:themeElements>
    <a:clrScheme name="ISI Steel Strategy Day">
      <a:dk1>
        <a:srgbClr val="1A1A1A"/>
      </a:dk1>
      <a:lt1>
        <a:srgbClr val="FFFFFF"/>
      </a:lt1>
      <a:dk2>
        <a:srgbClr val="011E41"/>
      </a:dk2>
      <a:lt2>
        <a:srgbClr val="E1E6EF"/>
      </a:lt2>
      <a:accent1>
        <a:srgbClr val="BF9000"/>
      </a:accent1>
      <a:accent2>
        <a:srgbClr val="0B76A0"/>
      </a:accent2>
      <a:accent3>
        <a:srgbClr val="E8A33D"/>
      </a:accent3>
      <a:accent4>
        <a:srgbClr val="084F6A"/>
      </a:accent4>
      <a:accent5>
        <a:srgbClr val="2E8B57"/>
      </a:accent5>
      <a:accent6>
        <a:srgbClr val="61CBF4"/>
      </a:accent6>
      <a:hlink>
        <a:srgbClr val="0B76A0"/>
      </a:hlink>
      <a:folHlink>
        <a:srgbClr val="084F6A"/>
      </a:folHlink>
    </a:clrScheme>
    <a:fontScheme name="ISI Steel Strategy Da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ISI Steel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Pillar 4 Supply Chain Initiatives 2027</dc:title>
  <dc:subject>PptxGenJS Presentation</dc:subject>
  <dc:creator>Pheakdey</dc:creator>
  <cp:lastModifiedBy>Pheakdey</cp:lastModifiedBy>
  <cp:revision>1</cp:revision>
  <dcterms:created xsi:type="dcterms:W3CDTF">2026-10-18T09:32:38Z</dcterms:created>
  <dcterms:modified xsi:type="dcterms:W3CDTF">2026-10-18T09:32:38Z</dcterms:modified>
</cp:coreProperties>
</file>